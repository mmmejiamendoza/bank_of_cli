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10287000" cx="18288000"/>
  <p:notesSz cx="6858000" cy="9144000"/>
  <p:embeddedFontLst>
    <p:embeddedFont>
      <p:font typeface="DM Sans"/>
      <p:bold r:id="rId22"/>
      <p:boldItalic r:id="rId23"/>
    </p:embeddedFont>
    <p:embeddedFont>
      <p:font typeface="Calistoga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556D3B6-CC59-4423-A391-DCA5932C4D95}">
  <a:tblStyle styleId="{7556D3B6-CC59-4423-A391-DCA5932C4D9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DMSans-bold.fnt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font" Target="fonts/Calistoga-regular.fntdata"/><Relationship Id="rId12" Type="http://schemas.openxmlformats.org/officeDocument/2006/relationships/slide" Target="slides/slide6.xml"/><Relationship Id="rId23" Type="http://schemas.openxmlformats.org/officeDocument/2006/relationships/font" Target="fonts/DM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3d86fa68b80266ba_13_7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h3d86fa68b80266ba_13_7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h3d86fa68b80266ba_13_7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h3d86fa68b80266ba_13_7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h3d86fa68b80266ba_13_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h3d86fa68b80266ba_13_7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h3d86fa68b80266ba_13_7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h3d86fa68b80266ba_13_7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h3d86fa68b80266ba_13_1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h3d86fa68b80266ba_13_12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h3d86fa68b80266ba_13_1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h3d86fa68b80266ba_13_12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3.png"/><Relationship Id="rId7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162237" y="-52800"/>
            <a:ext cx="20765010" cy="10392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9750" y="594049"/>
            <a:ext cx="9988500" cy="909892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/>
          <p:nvPr/>
        </p:nvSpPr>
        <p:spPr>
          <a:xfrm>
            <a:off x="5034824" y="3022193"/>
            <a:ext cx="8218500" cy="47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99" u="none" cap="none" strike="noStrike">
                <a:solidFill>
                  <a:srgbClr val="F9F3E5"/>
                </a:solidFill>
                <a:latin typeface="Calistoga"/>
                <a:ea typeface="Calistoga"/>
                <a:cs typeface="Calistoga"/>
                <a:sym typeface="Calistoga"/>
              </a:rPr>
              <a:t>Making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99" u="none" cap="none" strike="noStrike">
                <a:solidFill>
                  <a:srgbClr val="F9F3E5"/>
                </a:solidFill>
                <a:latin typeface="Calistoga"/>
                <a:ea typeface="Calistoga"/>
                <a:cs typeface="Calistoga"/>
                <a:sym typeface="Calistoga"/>
              </a:rPr>
              <a:t>Connections In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99" u="none" cap="none" strike="noStrike">
                <a:solidFill>
                  <a:srgbClr val="F9F3E5"/>
                </a:solidFill>
                <a:latin typeface="Calistoga"/>
                <a:ea typeface="Calistoga"/>
                <a:cs typeface="Calistoga"/>
                <a:sym typeface="Calistoga"/>
              </a:rPr>
              <a:t>Informational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99" u="none" cap="none" strike="noStrike">
                <a:solidFill>
                  <a:srgbClr val="F9F3E5"/>
                </a:solidFill>
                <a:latin typeface="Calistoga"/>
                <a:ea typeface="Calistoga"/>
                <a:cs typeface="Calistoga"/>
                <a:sym typeface="Calistoga"/>
              </a:rPr>
              <a:t>Texts</a:t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297783" y="292130"/>
            <a:ext cx="3709103" cy="3473069"/>
          </a:xfrm>
          <a:custGeom>
            <a:rect b="b" l="l" r="r" t="t"/>
            <a:pathLst>
              <a:path extrusionOk="0" h="3473069" w="3709103">
                <a:moveTo>
                  <a:pt x="0" y="0"/>
                </a:moveTo>
                <a:lnTo>
                  <a:pt x="3709102" y="0"/>
                </a:lnTo>
                <a:lnTo>
                  <a:pt x="3709102" y="3473069"/>
                </a:lnTo>
                <a:lnTo>
                  <a:pt x="0" y="34730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" name="Google Shape;20;p3"/>
          <p:cNvSpPr/>
          <p:nvPr/>
        </p:nvSpPr>
        <p:spPr>
          <a:xfrm>
            <a:off x="14966915" y="2028664"/>
            <a:ext cx="2762663" cy="2767695"/>
          </a:xfrm>
          <a:custGeom>
            <a:rect b="b" l="l" r="r" t="t"/>
            <a:pathLst>
              <a:path extrusionOk="0" h="2767695" w="2762663">
                <a:moveTo>
                  <a:pt x="0" y="0"/>
                </a:moveTo>
                <a:lnTo>
                  <a:pt x="2762663" y="0"/>
                </a:lnTo>
                <a:lnTo>
                  <a:pt x="2762663" y="2767696"/>
                </a:lnTo>
                <a:lnTo>
                  <a:pt x="0" y="27676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" name="Google Shape;21;p3"/>
          <p:cNvSpPr/>
          <p:nvPr/>
        </p:nvSpPr>
        <p:spPr>
          <a:xfrm rot="10800000">
            <a:off x="-920085" y="6092861"/>
            <a:ext cx="3897570" cy="3599937"/>
          </a:xfrm>
          <a:custGeom>
            <a:rect b="b" l="l" r="r" t="t"/>
            <a:pathLst>
              <a:path extrusionOk="0" h="3599937" w="3897570">
                <a:moveTo>
                  <a:pt x="3897570" y="3599937"/>
                </a:moveTo>
                <a:lnTo>
                  <a:pt x="0" y="3599937"/>
                </a:lnTo>
                <a:lnTo>
                  <a:pt x="0" y="0"/>
                </a:lnTo>
                <a:lnTo>
                  <a:pt x="3897570" y="0"/>
                </a:lnTo>
                <a:lnTo>
                  <a:pt x="3897570" y="3599937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" name="Google Shape;22;p3"/>
          <p:cNvSpPr/>
          <p:nvPr/>
        </p:nvSpPr>
        <p:spPr>
          <a:xfrm>
            <a:off x="14660307" y="7205550"/>
            <a:ext cx="3627693" cy="2987900"/>
          </a:xfrm>
          <a:custGeom>
            <a:rect b="b" l="l" r="r" t="t"/>
            <a:pathLst>
              <a:path extrusionOk="0" h="2987900" w="3627693">
                <a:moveTo>
                  <a:pt x="0" y="0"/>
                </a:moveTo>
                <a:lnTo>
                  <a:pt x="3627693" y="0"/>
                </a:lnTo>
                <a:lnTo>
                  <a:pt x="3627693" y="2987900"/>
                </a:lnTo>
                <a:lnTo>
                  <a:pt x="0" y="2987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" name="Google Shape;23;p3"/>
          <p:cNvSpPr txBox="1"/>
          <p:nvPr/>
        </p:nvSpPr>
        <p:spPr>
          <a:xfrm>
            <a:off x="9742300" y="8718550"/>
            <a:ext cx="3817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through language organization</a:t>
            </a:r>
            <a:endParaRPr/>
          </a:p>
          <a:p>
            <a:pPr indent="0" lvl="0" marL="0" marR="0" rtl="0" algn="ctr">
              <a:lnSpc>
                <a:spcPct val="11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and information links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rgbClr val="F9F3E5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4"/>
          <p:cNvPicPr preferRelativeResize="0"/>
          <p:nvPr/>
        </p:nvPicPr>
        <p:blipFill rotWithShape="1">
          <a:blip r:embed="rId2">
            <a:alphaModFix/>
          </a:blip>
          <a:srcRect b="21260" l="0" r="0" t="0"/>
          <a:stretch/>
        </p:blipFill>
        <p:spPr>
          <a:xfrm>
            <a:off x="-106125" y="890750"/>
            <a:ext cx="18500250" cy="939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 txBox="1"/>
          <p:nvPr/>
        </p:nvSpPr>
        <p:spPr>
          <a:xfrm>
            <a:off x="9144000" y="881555"/>
            <a:ext cx="81588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9" u="none" cap="none" strike="noStrike">
                <a:solidFill>
                  <a:srgbClr val="00896B"/>
                </a:solidFill>
                <a:latin typeface="Calistoga"/>
                <a:ea typeface="Calistoga"/>
                <a:cs typeface="Calistoga"/>
                <a:sym typeface="Calistoga"/>
              </a:rPr>
              <a:t>Making sense of sentences</a:t>
            </a:r>
            <a:endParaRPr/>
          </a:p>
        </p:txBody>
      </p:sp>
      <p:sp>
        <p:nvSpPr>
          <p:cNvPr id="27" name="Google Shape;27;p4"/>
          <p:cNvSpPr txBox="1"/>
          <p:nvPr/>
        </p:nvSpPr>
        <p:spPr>
          <a:xfrm>
            <a:off x="10082096" y="5409225"/>
            <a:ext cx="7220700" cy="3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9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Understanding how a writer organizes language and links information in a paragraph or essay, helps us determine the purpose and key ideas of what we are reading. 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bg>
      <p:bgPr>
        <a:solidFill>
          <a:srgbClr val="F9F3E5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-1528057" y="5143500"/>
            <a:ext cx="5143500" cy="5143500"/>
          </a:xfrm>
          <a:custGeom>
            <a:rect b="b" l="l" r="r" t="t"/>
            <a:pathLst>
              <a:path extrusionOk="0"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" name="Google Shape;30;p5"/>
          <p:cNvSpPr/>
          <p:nvPr/>
        </p:nvSpPr>
        <p:spPr>
          <a:xfrm>
            <a:off x="-1484357" y="0"/>
            <a:ext cx="5143500" cy="5143500"/>
          </a:xfrm>
          <a:custGeom>
            <a:rect b="b" l="l" r="r" t="t"/>
            <a:pathLst>
              <a:path extrusionOk="0"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" name="Google Shape;31;p5"/>
          <p:cNvSpPr/>
          <p:nvPr/>
        </p:nvSpPr>
        <p:spPr>
          <a:xfrm>
            <a:off x="14628857" y="5143500"/>
            <a:ext cx="5143500" cy="5143500"/>
          </a:xfrm>
          <a:custGeom>
            <a:rect b="b" l="l" r="r" t="t"/>
            <a:pathLst>
              <a:path extrusionOk="0"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" name="Google Shape;32;p5"/>
          <p:cNvSpPr/>
          <p:nvPr/>
        </p:nvSpPr>
        <p:spPr>
          <a:xfrm>
            <a:off x="14672557" y="0"/>
            <a:ext cx="5143500" cy="5143500"/>
          </a:xfrm>
          <a:custGeom>
            <a:rect b="b" l="l" r="r" t="t"/>
            <a:pathLst>
              <a:path extrusionOk="0"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OBJECT_2">
    <p:bg>
      <p:bgPr>
        <a:solidFill>
          <a:srgbClr val="FFB1C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Google Shape;34;p6"/>
          <p:cNvGraphicFramePr/>
          <p:nvPr/>
        </p:nvGraphicFramePr>
        <p:xfrm>
          <a:off x="1028700" y="47506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{7556D3B6-CC59-4423-A391-DCA5932C4D95}</a:tableStyleId>
              </a:tblPr>
              <a:tblGrid>
                <a:gridCol w="4057650"/>
                <a:gridCol w="4057650"/>
                <a:gridCol w="4057650"/>
                <a:gridCol w="4057650"/>
              </a:tblGrid>
              <a:tr h="137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40400" marB="240400" marR="240400" marL="240400" anchor="ctr">
                    <a:lnL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40400" marB="240400" marR="240400" marL="240400" anchor="ctr">
                    <a:lnL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40400" marB="240400" marR="240400" marL="240400" anchor="ctr">
                    <a:lnL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40400" marB="240400" marR="240400" marL="240400" anchor="ctr">
                    <a:lnL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40400" marB="240400" marR="240400" marL="240400" anchor="ctr">
                    <a:lnL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40400" marB="240400" marR="240400" marL="240400" anchor="ctr">
                    <a:lnL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40400" marB="240400" marR="240400" marL="240400" anchor="ctr">
                    <a:lnL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40400" marB="240400" marR="240400" marL="240400" anchor="ctr">
                    <a:lnL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40400" marB="240400" marR="240400" marL="240400" anchor="ctr">
                    <a:lnL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40400" marB="240400" marR="240400" marL="240400" anchor="ctr">
                    <a:lnL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40400" marB="240400" marR="240400" marL="240400" anchor="ctr">
                    <a:lnL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40400" marB="240400" marR="240400" marL="240400" anchor="ctr">
                    <a:lnL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8075">
                      <a:solidFill>
                        <a:srgbClr val="00896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Google Shape;35;p6"/>
          <p:cNvSpPr/>
          <p:nvPr/>
        </p:nvSpPr>
        <p:spPr>
          <a:xfrm>
            <a:off x="-227983" y="-241106"/>
            <a:ext cx="4294383" cy="4114800"/>
          </a:xfrm>
          <a:custGeom>
            <a:rect b="b" l="l" r="r" t="t"/>
            <a:pathLst>
              <a:path extrusionOk="0" h="4114800" w="4294383">
                <a:moveTo>
                  <a:pt x="0" y="0"/>
                </a:moveTo>
                <a:lnTo>
                  <a:pt x="4294384" y="0"/>
                </a:lnTo>
                <a:lnTo>
                  <a:pt x="42943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" name="Google Shape;36;p6"/>
          <p:cNvSpPr/>
          <p:nvPr/>
        </p:nvSpPr>
        <p:spPr>
          <a:xfrm flipH="1">
            <a:off x="14222743" y="-241106"/>
            <a:ext cx="4294383" cy="4114800"/>
          </a:xfrm>
          <a:custGeom>
            <a:rect b="b" l="l" r="r" t="t"/>
            <a:pathLst>
              <a:path extrusionOk="0" h="4114800" w="4294383">
                <a:moveTo>
                  <a:pt x="4294383" y="0"/>
                </a:moveTo>
                <a:lnTo>
                  <a:pt x="0" y="0"/>
                </a:lnTo>
                <a:lnTo>
                  <a:pt x="0" y="4114800"/>
                </a:lnTo>
                <a:lnTo>
                  <a:pt x="4294383" y="4114800"/>
                </a:lnTo>
                <a:lnTo>
                  <a:pt x="42943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3">
  <p:cSld name="OBJECT_3">
    <p:bg>
      <p:bgPr>
        <a:solidFill>
          <a:srgbClr val="F9F3E5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7"/>
          <p:cNvGrpSpPr/>
          <p:nvPr/>
        </p:nvGrpSpPr>
        <p:grpSpPr>
          <a:xfrm>
            <a:off x="1028700" y="3239252"/>
            <a:ext cx="10184608" cy="5169430"/>
            <a:chOff x="0" y="0"/>
            <a:chExt cx="1202135" cy="610171"/>
          </a:xfrm>
        </p:grpSpPr>
        <p:sp>
          <p:nvSpPr>
            <p:cNvPr id="39" name="Google Shape;39;p7"/>
            <p:cNvSpPr/>
            <p:nvPr/>
          </p:nvSpPr>
          <p:spPr>
            <a:xfrm>
              <a:off x="0" y="0"/>
              <a:ext cx="1202135" cy="610171"/>
            </a:xfrm>
            <a:custGeom>
              <a:rect b="b" l="l" r="r" t="t"/>
              <a:pathLst>
                <a:path extrusionOk="0" h="610171" w="1202135">
                  <a:moveTo>
                    <a:pt x="601068" y="0"/>
                  </a:moveTo>
                  <a:cubicBezTo>
                    <a:pt x="269107" y="0"/>
                    <a:pt x="0" y="136591"/>
                    <a:pt x="0" y="305085"/>
                  </a:cubicBezTo>
                  <a:cubicBezTo>
                    <a:pt x="0" y="473579"/>
                    <a:pt x="269107" y="610171"/>
                    <a:pt x="601068" y="610171"/>
                  </a:cubicBezTo>
                  <a:cubicBezTo>
                    <a:pt x="933028" y="610171"/>
                    <a:pt x="1202135" y="473579"/>
                    <a:pt x="1202135" y="305085"/>
                  </a:cubicBezTo>
                  <a:cubicBezTo>
                    <a:pt x="1202135" y="136591"/>
                    <a:pt x="933028" y="0"/>
                    <a:pt x="60106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76200">
              <a:solidFill>
                <a:srgbClr val="00896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7"/>
            <p:cNvSpPr txBox="1"/>
            <p:nvPr/>
          </p:nvSpPr>
          <p:spPr>
            <a:xfrm>
              <a:off x="112700" y="95304"/>
              <a:ext cx="976800" cy="4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9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" name="Google Shape;41;p7"/>
          <p:cNvGrpSpPr/>
          <p:nvPr/>
        </p:nvGrpSpPr>
        <p:grpSpPr>
          <a:xfrm>
            <a:off x="7074652" y="3239252"/>
            <a:ext cx="10184608" cy="5169430"/>
            <a:chOff x="0" y="0"/>
            <a:chExt cx="1202135" cy="610171"/>
          </a:xfrm>
        </p:grpSpPr>
        <p:sp>
          <p:nvSpPr>
            <p:cNvPr id="42" name="Google Shape;42;p7"/>
            <p:cNvSpPr/>
            <p:nvPr/>
          </p:nvSpPr>
          <p:spPr>
            <a:xfrm>
              <a:off x="0" y="0"/>
              <a:ext cx="1202135" cy="610171"/>
            </a:xfrm>
            <a:custGeom>
              <a:rect b="b" l="l" r="r" t="t"/>
              <a:pathLst>
                <a:path extrusionOk="0" h="610171" w="1202135">
                  <a:moveTo>
                    <a:pt x="601068" y="0"/>
                  </a:moveTo>
                  <a:cubicBezTo>
                    <a:pt x="269107" y="0"/>
                    <a:pt x="0" y="136591"/>
                    <a:pt x="0" y="305085"/>
                  </a:cubicBezTo>
                  <a:cubicBezTo>
                    <a:pt x="0" y="473579"/>
                    <a:pt x="269107" y="610171"/>
                    <a:pt x="601068" y="610171"/>
                  </a:cubicBezTo>
                  <a:cubicBezTo>
                    <a:pt x="933028" y="610171"/>
                    <a:pt x="1202135" y="473579"/>
                    <a:pt x="1202135" y="305085"/>
                  </a:cubicBezTo>
                  <a:cubicBezTo>
                    <a:pt x="1202135" y="136591"/>
                    <a:pt x="933028" y="0"/>
                    <a:pt x="60106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76200">
              <a:solidFill>
                <a:srgbClr val="00896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7"/>
            <p:cNvSpPr txBox="1"/>
            <p:nvPr/>
          </p:nvSpPr>
          <p:spPr>
            <a:xfrm>
              <a:off x="112700" y="95304"/>
              <a:ext cx="976800" cy="4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9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" name="Google Shape;44;p7"/>
          <p:cNvGrpSpPr/>
          <p:nvPr/>
        </p:nvGrpSpPr>
        <p:grpSpPr>
          <a:xfrm>
            <a:off x="4355820" y="2858691"/>
            <a:ext cx="3086120" cy="989852"/>
            <a:chOff x="0" y="0"/>
            <a:chExt cx="812800" cy="260700"/>
          </a:xfrm>
        </p:grpSpPr>
        <p:sp>
          <p:nvSpPr>
            <p:cNvPr id="45" name="Google Shape;45;p7"/>
            <p:cNvSpPr/>
            <p:nvPr/>
          </p:nvSpPr>
          <p:spPr>
            <a:xfrm>
              <a:off x="0" y="0"/>
              <a:ext cx="812800" cy="260570"/>
            </a:xfrm>
            <a:custGeom>
              <a:rect b="b" l="l" r="r" t="t"/>
              <a:pathLst>
                <a:path extrusionOk="0" h="260570" w="812800">
                  <a:moveTo>
                    <a:pt x="130285" y="0"/>
                  </a:moveTo>
                  <a:lnTo>
                    <a:pt x="682515" y="0"/>
                  </a:lnTo>
                  <a:cubicBezTo>
                    <a:pt x="754470" y="0"/>
                    <a:pt x="812800" y="58330"/>
                    <a:pt x="812800" y="130285"/>
                  </a:cubicBezTo>
                  <a:lnTo>
                    <a:pt x="812800" y="130285"/>
                  </a:lnTo>
                  <a:cubicBezTo>
                    <a:pt x="812800" y="202239"/>
                    <a:pt x="754470" y="260570"/>
                    <a:pt x="682515" y="260570"/>
                  </a:cubicBezTo>
                  <a:lnTo>
                    <a:pt x="130285" y="260570"/>
                  </a:lnTo>
                  <a:cubicBezTo>
                    <a:pt x="58330" y="260570"/>
                    <a:pt x="0" y="202239"/>
                    <a:pt x="0" y="130285"/>
                  </a:cubicBezTo>
                  <a:lnTo>
                    <a:pt x="0" y="130285"/>
                  </a:lnTo>
                  <a:cubicBezTo>
                    <a:pt x="0" y="58330"/>
                    <a:pt x="58330" y="0"/>
                    <a:pt x="130285" y="0"/>
                  </a:cubicBezTo>
                  <a:close/>
                </a:path>
              </a:pathLst>
            </a:custGeom>
            <a:solidFill>
              <a:srgbClr val="FFB1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7"/>
            <p:cNvSpPr txBox="1"/>
            <p:nvPr/>
          </p:nvSpPr>
          <p:spPr>
            <a:xfrm>
              <a:off x="0" y="38100"/>
              <a:ext cx="8127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9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" name="Google Shape;47;p7"/>
          <p:cNvGrpSpPr/>
          <p:nvPr/>
        </p:nvGrpSpPr>
        <p:grpSpPr>
          <a:xfrm>
            <a:off x="10841705" y="2858691"/>
            <a:ext cx="3086120" cy="989852"/>
            <a:chOff x="0" y="0"/>
            <a:chExt cx="812800" cy="260700"/>
          </a:xfrm>
        </p:grpSpPr>
        <p:sp>
          <p:nvSpPr>
            <p:cNvPr id="48" name="Google Shape;48;p7"/>
            <p:cNvSpPr/>
            <p:nvPr/>
          </p:nvSpPr>
          <p:spPr>
            <a:xfrm>
              <a:off x="0" y="0"/>
              <a:ext cx="812800" cy="260570"/>
            </a:xfrm>
            <a:custGeom>
              <a:rect b="b" l="l" r="r" t="t"/>
              <a:pathLst>
                <a:path extrusionOk="0" h="260570" w="812800">
                  <a:moveTo>
                    <a:pt x="130285" y="0"/>
                  </a:moveTo>
                  <a:lnTo>
                    <a:pt x="682515" y="0"/>
                  </a:lnTo>
                  <a:cubicBezTo>
                    <a:pt x="754470" y="0"/>
                    <a:pt x="812800" y="58330"/>
                    <a:pt x="812800" y="130285"/>
                  </a:cubicBezTo>
                  <a:lnTo>
                    <a:pt x="812800" y="130285"/>
                  </a:lnTo>
                  <a:cubicBezTo>
                    <a:pt x="812800" y="202239"/>
                    <a:pt x="754470" y="260570"/>
                    <a:pt x="682515" y="260570"/>
                  </a:cubicBezTo>
                  <a:lnTo>
                    <a:pt x="130285" y="260570"/>
                  </a:lnTo>
                  <a:cubicBezTo>
                    <a:pt x="58330" y="260570"/>
                    <a:pt x="0" y="202239"/>
                    <a:pt x="0" y="130285"/>
                  </a:cubicBezTo>
                  <a:lnTo>
                    <a:pt x="0" y="130285"/>
                  </a:lnTo>
                  <a:cubicBezTo>
                    <a:pt x="0" y="58330"/>
                    <a:pt x="58330" y="0"/>
                    <a:pt x="130285" y="0"/>
                  </a:cubicBezTo>
                  <a:close/>
                </a:path>
              </a:pathLst>
            </a:custGeom>
            <a:solidFill>
              <a:srgbClr val="FFB1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7"/>
            <p:cNvSpPr txBox="1"/>
            <p:nvPr/>
          </p:nvSpPr>
          <p:spPr>
            <a:xfrm>
              <a:off x="0" y="38100"/>
              <a:ext cx="8127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9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4">
  <p:cSld name="OBJECT_4">
    <p:bg>
      <p:bgPr>
        <a:solidFill>
          <a:srgbClr val="FFB1C3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1028700" y="3239252"/>
            <a:ext cx="10184608" cy="5169430"/>
            <a:chOff x="0" y="0"/>
            <a:chExt cx="1202135" cy="610171"/>
          </a:xfrm>
        </p:grpSpPr>
        <p:sp>
          <p:nvSpPr>
            <p:cNvPr id="52" name="Google Shape;52;p8"/>
            <p:cNvSpPr/>
            <p:nvPr/>
          </p:nvSpPr>
          <p:spPr>
            <a:xfrm>
              <a:off x="0" y="0"/>
              <a:ext cx="1202135" cy="610171"/>
            </a:xfrm>
            <a:custGeom>
              <a:rect b="b" l="l" r="r" t="t"/>
              <a:pathLst>
                <a:path extrusionOk="0" h="610171" w="1202135">
                  <a:moveTo>
                    <a:pt x="601068" y="0"/>
                  </a:moveTo>
                  <a:cubicBezTo>
                    <a:pt x="269107" y="0"/>
                    <a:pt x="0" y="136591"/>
                    <a:pt x="0" y="305085"/>
                  </a:cubicBezTo>
                  <a:cubicBezTo>
                    <a:pt x="0" y="473579"/>
                    <a:pt x="269107" y="610171"/>
                    <a:pt x="601068" y="610171"/>
                  </a:cubicBezTo>
                  <a:cubicBezTo>
                    <a:pt x="933028" y="610171"/>
                    <a:pt x="1202135" y="473579"/>
                    <a:pt x="1202135" y="305085"/>
                  </a:cubicBezTo>
                  <a:cubicBezTo>
                    <a:pt x="1202135" y="136591"/>
                    <a:pt x="933028" y="0"/>
                    <a:pt x="601068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76200">
              <a:solidFill>
                <a:srgbClr val="00896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 txBox="1"/>
            <p:nvPr/>
          </p:nvSpPr>
          <p:spPr>
            <a:xfrm>
              <a:off x="112700" y="95304"/>
              <a:ext cx="976800" cy="4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9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" name="Google Shape;54;p8"/>
          <p:cNvGrpSpPr/>
          <p:nvPr/>
        </p:nvGrpSpPr>
        <p:grpSpPr>
          <a:xfrm>
            <a:off x="7074652" y="3239252"/>
            <a:ext cx="10184608" cy="5169430"/>
            <a:chOff x="0" y="0"/>
            <a:chExt cx="1202135" cy="610171"/>
          </a:xfrm>
        </p:grpSpPr>
        <p:sp>
          <p:nvSpPr>
            <p:cNvPr id="55" name="Google Shape;55;p8"/>
            <p:cNvSpPr/>
            <p:nvPr/>
          </p:nvSpPr>
          <p:spPr>
            <a:xfrm>
              <a:off x="0" y="0"/>
              <a:ext cx="1202135" cy="610171"/>
            </a:xfrm>
            <a:custGeom>
              <a:rect b="b" l="l" r="r" t="t"/>
              <a:pathLst>
                <a:path extrusionOk="0" h="610171" w="1202135">
                  <a:moveTo>
                    <a:pt x="601068" y="0"/>
                  </a:moveTo>
                  <a:cubicBezTo>
                    <a:pt x="269107" y="0"/>
                    <a:pt x="0" y="136591"/>
                    <a:pt x="0" y="305085"/>
                  </a:cubicBezTo>
                  <a:cubicBezTo>
                    <a:pt x="0" y="473579"/>
                    <a:pt x="269107" y="610171"/>
                    <a:pt x="601068" y="610171"/>
                  </a:cubicBezTo>
                  <a:cubicBezTo>
                    <a:pt x="933028" y="610171"/>
                    <a:pt x="1202135" y="473579"/>
                    <a:pt x="1202135" y="305085"/>
                  </a:cubicBezTo>
                  <a:cubicBezTo>
                    <a:pt x="1202135" y="136591"/>
                    <a:pt x="933028" y="0"/>
                    <a:pt x="601068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76200">
              <a:solidFill>
                <a:srgbClr val="00896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 txBox="1"/>
            <p:nvPr/>
          </p:nvSpPr>
          <p:spPr>
            <a:xfrm>
              <a:off x="112700" y="95304"/>
              <a:ext cx="976800" cy="4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9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" name="Google Shape;57;p8"/>
          <p:cNvGrpSpPr/>
          <p:nvPr/>
        </p:nvGrpSpPr>
        <p:grpSpPr>
          <a:xfrm>
            <a:off x="4355820" y="2858691"/>
            <a:ext cx="3086120" cy="989852"/>
            <a:chOff x="0" y="0"/>
            <a:chExt cx="812800" cy="260700"/>
          </a:xfrm>
        </p:grpSpPr>
        <p:sp>
          <p:nvSpPr>
            <p:cNvPr id="58" name="Google Shape;58;p8"/>
            <p:cNvSpPr/>
            <p:nvPr/>
          </p:nvSpPr>
          <p:spPr>
            <a:xfrm>
              <a:off x="0" y="0"/>
              <a:ext cx="812800" cy="260570"/>
            </a:xfrm>
            <a:custGeom>
              <a:rect b="b" l="l" r="r" t="t"/>
              <a:pathLst>
                <a:path extrusionOk="0" h="260570" w="812800">
                  <a:moveTo>
                    <a:pt x="130285" y="0"/>
                  </a:moveTo>
                  <a:lnTo>
                    <a:pt x="682515" y="0"/>
                  </a:lnTo>
                  <a:cubicBezTo>
                    <a:pt x="754470" y="0"/>
                    <a:pt x="812800" y="58330"/>
                    <a:pt x="812800" y="130285"/>
                  </a:cubicBezTo>
                  <a:lnTo>
                    <a:pt x="812800" y="130285"/>
                  </a:lnTo>
                  <a:cubicBezTo>
                    <a:pt x="812800" y="202239"/>
                    <a:pt x="754470" y="260570"/>
                    <a:pt x="682515" y="260570"/>
                  </a:cubicBezTo>
                  <a:lnTo>
                    <a:pt x="130285" y="260570"/>
                  </a:lnTo>
                  <a:cubicBezTo>
                    <a:pt x="58330" y="260570"/>
                    <a:pt x="0" y="202239"/>
                    <a:pt x="0" y="130285"/>
                  </a:cubicBezTo>
                  <a:lnTo>
                    <a:pt x="0" y="130285"/>
                  </a:lnTo>
                  <a:cubicBezTo>
                    <a:pt x="0" y="58330"/>
                    <a:pt x="58330" y="0"/>
                    <a:pt x="130285" y="0"/>
                  </a:cubicBezTo>
                  <a:close/>
                </a:path>
              </a:pathLst>
            </a:custGeom>
            <a:solidFill>
              <a:srgbClr val="0089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8"/>
            <p:cNvSpPr txBox="1"/>
            <p:nvPr/>
          </p:nvSpPr>
          <p:spPr>
            <a:xfrm>
              <a:off x="0" y="38100"/>
              <a:ext cx="8127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9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" name="Google Shape;60;p8"/>
          <p:cNvGrpSpPr/>
          <p:nvPr/>
        </p:nvGrpSpPr>
        <p:grpSpPr>
          <a:xfrm>
            <a:off x="10841705" y="2858691"/>
            <a:ext cx="3086120" cy="989852"/>
            <a:chOff x="0" y="0"/>
            <a:chExt cx="812800" cy="260700"/>
          </a:xfrm>
        </p:grpSpPr>
        <p:sp>
          <p:nvSpPr>
            <p:cNvPr id="61" name="Google Shape;61;p8"/>
            <p:cNvSpPr/>
            <p:nvPr/>
          </p:nvSpPr>
          <p:spPr>
            <a:xfrm>
              <a:off x="0" y="0"/>
              <a:ext cx="812800" cy="260570"/>
            </a:xfrm>
            <a:custGeom>
              <a:rect b="b" l="l" r="r" t="t"/>
              <a:pathLst>
                <a:path extrusionOk="0" h="260570" w="812800">
                  <a:moveTo>
                    <a:pt x="130285" y="0"/>
                  </a:moveTo>
                  <a:lnTo>
                    <a:pt x="682515" y="0"/>
                  </a:lnTo>
                  <a:cubicBezTo>
                    <a:pt x="754470" y="0"/>
                    <a:pt x="812800" y="58330"/>
                    <a:pt x="812800" y="130285"/>
                  </a:cubicBezTo>
                  <a:lnTo>
                    <a:pt x="812800" y="130285"/>
                  </a:lnTo>
                  <a:cubicBezTo>
                    <a:pt x="812800" y="202239"/>
                    <a:pt x="754470" y="260570"/>
                    <a:pt x="682515" y="260570"/>
                  </a:cubicBezTo>
                  <a:lnTo>
                    <a:pt x="130285" y="260570"/>
                  </a:lnTo>
                  <a:cubicBezTo>
                    <a:pt x="58330" y="260570"/>
                    <a:pt x="0" y="202239"/>
                    <a:pt x="0" y="130285"/>
                  </a:cubicBezTo>
                  <a:lnTo>
                    <a:pt x="0" y="130285"/>
                  </a:lnTo>
                  <a:cubicBezTo>
                    <a:pt x="0" y="58330"/>
                    <a:pt x="58330" y="0"/>
                    <a:pt x="130285" y="0"/>
                  </a:cubicBezTo>
                  <a:close/>
                </a:path>
              </a:pathLst>
            </a:custGeom>
            <a:solidFill>
              <a:srgbClr val="0089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8"/>
            <p:cNvSpPr txBox="1"/>
            <p:nvPr/>
          </p:nvSpPr>
          <p:spPr>
            <a:xfrm>
              <a:off x="0" y="38100"/>
              <a:ext cx="8127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9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3 1">
  <p:cSld name="OBJECT_3_1">
    <p:bg>
      <p:bgPr>
        <a:solidFill>
          <a:srgbClr val="F9F3E5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9"/>
          <p:cNvGrpSpPr/>
          <p:nvPr/>
        </p:nvGrpSpPr>
        <p:grpSpPr>
          <a:xfrm>
            <a:off x="1028700" y="4515185"/>
            <a:ext cx="16230707" cy="6241185"/>
            <a:chOff x="0" y="0"/>
            <a:chExt cx="4274726" cy="1643758"/>
          </a:xfrm>
        </p:grpSpPr>
        <p:sp>
          <p:nvSpPr>
            <p:cNvPr id="65" name="Google Shape;65;p9"/>
            <p:cNvSpPr/>
            <p:nvPr/>
          </p:nvSpPr>
          <p:spPr>
            <a:xfrm>
              <a:off x="0" y="0"/>
              <a:ext cx="4274726" cy="1643758"/>
            </a:xfrm>
            <a:custGeom>
              <a:rect b="b" l="l" r="r" t="t"/>
              <a:pathLst>
                <a:path extrusionOk="0" h="164375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643758"/>
                  </a:lnTo>
                  <a:lnTo>
                    <a:pt x="0" y="1643758"/>
                  </a:lnTo>
                  <a:close/>
                </a:path>
              </a:pathLst>
            </a:custGeom>
            <a:solidFill>
              <a:srgbClr val="FFB1C3"/>
            </a:solidFill>
            <a:ln cap="sq" cmpd="sng" w="38100">
              <a:solidFill>
                <a:srgbClr val="00896B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6" name="Google Shape;66;p9"/>
            <p:cNvSpPr txBox="1"/>
            <p:nvPr/>
          </p:nvSpPr>
          <p:spPr>
            <a:xfrm>
              <a:off x="0" y="38100"/>
              <a:ext cx="4274700" cy="160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9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" name="Google Shape;67;p9"/>
          <p:cNvSpPr/>
          <p:nvPr/>
        </p:nvSpPr>
        <p:spPr>
          <a:xfrm>
            <a:off x="14809461" y="-490403"/>
            <a:ext cx="4084874" cy="4114800"/>
          </a:xfrm>
          <a:custGeom>
            <a:rect b="b" l="l" r="r" t="t"/>
            <a:pathLst>
              <a:path extrusionOk="0" h="4114800" w="4084874">
                <a:moveTo>
                  <a:pt x="0" y="0"/>
                </a:moveTo>
                <a:lnTo>
                  <a:pt x="4084874" y="0"/>
                </a:lnTo>
                <a:lnTo>
                  <a:pt x="40848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8" name="Google Shape;68;p9"/>
          <p:cNvSpPr/>
          <p:nvPr/>
        </p:nvSpPr>
        <p:spPr>
          <a:xfrm>
            <a:off x="-606335" y="-490403"/>
            <a:ext cx="4084874" cy="4114800"/>
          </a:xfrm>
          <a:custGeom>
            <a:rect b="b" l="l" r="r" t="t"/>
            <a:pathLst>
              <a:path extrusionOk="0" h="4114800" w="4084874">
                <a:moveTo>
                  <a:pt x="0" y="0"/>
                </a:moveTo>
                <a:lnTo>
                  <a:pt x="4084874" y="0"/>
                </a:lnTo>
                <a:lnTo>
                  <a:pt x="40848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3 1 1">
  <p:cSld name="OBJECT_3_1_1">
    <p:bg>
      <p:bgPr>
        <a:solidFill>
          <a:srgbClr val="FFB1C3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0"/>
          <p:cNvGrpSpPr/>
          <p:nvPr/>
        </p:nvGrpSpPr>
        <p:grpSpPr>
          <a:xfrm>
            <a:off x="416892" y="552542"/>
            <a:ext cx="10602464" cy="3241159"/>
            <a:chOff x="0" y="0"/>
            <a:chExt cx="2792400" cy="853633"/>
          </a:xfrm>
        </p:grpSpPr>
        <p:sp>
          <p:nvSpPr>
            <p:cNvPr id="71" name="Google Shape;71;p10"/>
            <p:cNvSpPr/>
            <p:nvPr/>
          </p:nvSpPr>
          <p:spPr>
            <a:xfrm>
              <a:off x="0" y="0"/>
              <a:ext cx="2792293" cy="853633"/>
            </a:xfrm>
            <a:custGeom>
              <a:rect b="b" l="l" r="r" t="t"/>
              <a:pathLst>
                <a:path extrusionOk="0" h="853633" w="2792293">
                  <a:moveTo>
                    <a:pt x="0" y="0"/>
                  </a:moveTo>
                  <a:lnTo>
                    <a:pt x="2792293" y="0"/>
                  </a:lnTo>
                  <a:lnTo>
                    <a:pt x="2792293" y="853633"/>
                  </a:lnTo>
                  <a:lnTo>
                    <a:pt x="0" y="853633"/>
                  </a:lnTo>
                  <a:close/>
                </a:path>
              </a:pathLst>
            </a:custGeom>
            <a:solidFill>
              <a:srgbClr val="F9F3E5"/>
            </a:solidFill>
            <a:ln cap="sq" cmpd="sng" w="38100">
              <a:solidFill>
                <a:srgbClr val="00896B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72" name="Google Shape;72;p10"/>
            <p:cNvSpPr txBox="1"/>
            <p:nvPr/>
          </p:nvSpPr>
          <p:spPr>
            <a:xfrm>
              <a:off x="0" y="28575"/>
              <a:ext cx="2792400" cy="82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" name="Google Shape;73;p10"/>
          <p:cNvGrpSpPr/>
          <p:nvPr/>
        </p:nvGrpSpPr>
        <p:grpSpPr>
          <a:xfrm>
            <a:off x="416892" y="4226351"/>
            <a:ext cx="10602464" cy="5508144"/>
            <a:chOff x="0" y="0"/>
            <a:chExt cx="2792400" cy="1450695"/>
          </a:xfrm>
        </p:grpSpPr>
        <p:sp>
          <p:nvSpPr>
            <p:cNvPr id="74" name="Google Shape;74;p10"/>
            <p:cNvSpPr/>
            <p:nvPr/>
          </p:nvSpPr>
          <p:spPr>
            <a:xfrm>
              <a:off x="0" y="0"/>
              <a:ext cx="2792293" cy="1450695"/>
            </a:xfrm>
            <a:custGeom>
              <a:rect b="b" l="l" r="r" t="t"/>
              <a:pathLst>
                <a:path extrusionOk="0" h="1450695" w="2792293">
                  <a:moveTo>
                    <a:pt x="0" y="0"/>
                  </a:moveTo>
                  <a:lnTo>
                    <a:pt x="2792293" y="0"/>
                  </a:lnTo>
                  <a:lnTo>
                    <a:pt x="2792293" y="1450695"/>
                  </a:lnTo>
                  <a:lnTo>
                    <a:pt x="0" y="1450695"/>
                  </a:lnTo>
                  <a:close/>
                </a:path>
              </a:pathLst>
            </a:custGeom>
            <a:solidFill>
              <a:srgbClr val="F9F3E5"/>
            </a:solidFill>
            <a:ln cap="sq" cmpd="sng" w="38100">
              <a:solidFill>
                <a:srgbClr val="00896B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75" name="Google Shape;75;p10"/>
            <p:cNvSpPr txBox="1"/>
            <p:nvPr/>
          </p:nvSpPr>
          <p:spPr>
            <a:xfrm>
              <a:off x="0" y="28575"/>
              <a:ext cx="2792400" cy="142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" name="Google Shape;76;p10"/>
          <p:cNvSpPr/>
          <p:nvPr/>
        </p:nvSpPr>
        <p:spPr>
          <a:xfrm flipH="1">
            <a:off x="11296870" y="552542"/>
            <a:ext cx="6677757" cy="9181916"/>
          </a:xfrm>
          <a:custGeom>
            <a:rect b="b" l="l" r="r" t="t"/>
            <a:pathLst>
              <a:path extrusionOk="0" h="9181916" w="6677757">
                <a:moveTo>
                  <a:pt x="6677757" y="0"/>
                </a:moveTo>
                <a:lnTo>
                  <a:pt x="0" y="0"/>
                </a:lnTo>
                <a:lnTo>
                  <a:pt x="0" y="9181916"/>
                </a:lnTo>
                <a:lnTo>
                  <a:pt x="6677757" y="9181916"/>
                </a:lnTo>
                <a:lnTo>
                  <a:pt x="6677757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3.png"/><Relationship Id="rId8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22.png"/><Relationship Id="rId6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image" Target="../media/image25.png"/><Relationship Id="rId6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29.png"/><Relationship Id="rId6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30.png"/><Relationship Id="rId6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Relationship Id="rId4" Type="http://schemas.openxmlformats.org/officeDocument/2006/relationships/image" Target="../media/image41.png"/><Relationship Id="rId5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27.png"/><Relationship Id="rId9" Type="http://schemas.openxmlformats.org/officeDocument/2006/relationships/image" Target="../media/image40.png"/><Relationship Id="rId5" Type="http://schemas.openxmlformats.org/officeDocument/2006/relationships/image" Target="../media/image31.png"/><Relationship Id="rId6" Type="http://schemas.openxmlformats.org/officeDocument/2006/relationships/image" Target="../media/image16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27.png"/><Relationship Id="rId5" Type="http://schemas.openxmlformats.org/officeDocument/2006/relationships/image" Target="../media/image16.png"/><Relationship Id="rId6" Type="http://schemas.openxmlformats.org/officeDocument/2006/relationships/image" Target="../media/image34.png"/><Relationship Id="rId7" Type="http://schemas.openxmlformats.org/officeDocument/2006/relationships/image" Target="../media/image36.png"/><Relationship Id="rId8" Type="http://schemas.openxmlformats.org/officeDocument/2006/relationships/image" Target="../media/image3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5.png"/><Relationship Id="rId4" Type="http://schemas.openxmlformats.org/officeDocument/2006/relationships/image" Target="../media/image44.png"/><Relationship Id="rId5" Type="http://schemas.openxmlformats.org/officeDocument/2006/relationships/image" Target="../media/image3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4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3E5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46775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9750" y="594049"/>
            <a:ext cx="9988500" cy="9098924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5034749" y="3377406"/>
            <a:ext cx="8218500" cy="3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99">
                <a:solidFill>
                  <a:srgbClr val="F9F3E5"/>
                </a:solidFill>
                <a:latin typeface="Calistoga"/>
                <a:ea typeface="Calistoga"/>
                <a:cs typeface="Calistoga"/>
                <a:sym typeface="Calistoga"/>
              </a:rPr>
              <a:t>BANK </a:t>
            </a:r>
            <a:br>
              <a:rPr lang="en-US" sz="8499">
                <a:solidFill>
                  <a:srgbClr val="F9F3E5"/>
                </a:solidFill>
                <a:latin typeface="Calistoga"/>
                <a:ea typeface="Calistoga"/>
                <a:cs typeface="Calistoga"/>
                <a:sym typeface="Calistoga"/>
              </a:rPr>
            </a:br>
            <a:r>
              <a:rPr lang="en-US" sz="8499">
                <a:solidFill>
                  <a:srgbClr val="F9F3E5"/>
                </a:solidFill>
                <a:latin typeface="Calistoga"/>
                <a:ea typeface="Calistoga"/>
                <a:cs typeface="Calistoga"/>
                <a:sym typeface="Calistoga"/>
              </a:rPr>
              <a:t>OF</a:t>
            </a:r>
            <a:br>
              <a:rPr lang="en-US" sz="8499">
                <a:solidFill>
                  <a:srgbClr val="F9F3E5"/>
                </a:solidFill>
                <a:latin typeface="Calistoga"/>
                <a:ea typeface="Calistoga"/>
                <a:cs typeface="Calistoga"/>
                <a:sym typeface="Calistoga"/>
              </a:rPr>
            </a:br>
            <a:r>
              <a:rPr lang="en-US" sz="8499">
                <a:solidFill>
                  <a:srgbClr val="F9F3E5"/>
                </a:solidFill>
                <a:latin typeface="Calistoga"/>
                <a:ea typeface="Calistoga"/>
                <a:cs typeface="Calistoga"/>
                <a:sym typeface="Calistoga"/>
              </a:rPr>
              <a:t>CLI</a:t>
            </a:r>
            <a:endParaRPr/>
          </a:p>
        </p:txBody>
      </p:sp>
      <p:sp>
        <p:nvSpPr>
          <p:cNvPr id="84" name="Google Shape;84;p11"/>
          <p:cNvSpPr/>
          <p:nvPr/>
        </p:nvSpPr>
        <p:spPr>
          <a:xfrm>
            <a:off x="297783" y="292130"/>
            <a:ext cx="3709103" cy="3473069"/>
          </a:xfrm>
          <a:custGeom>
            <a:rect b="b" l="l" r="r" t="t"/>
            <a:pathLst>
              <a:path extrusionOk="0" h="3473069" w="3709103">
                <a:moveTo>
                  <a:pt x="0" y="0"/>
                </a:moveTo>
                <a:lnTo>
                  <a:pt x="3709102" y="0"/>
                </a:lnTo>
                <a:lnTo>
                  <a:pt x="3709102" y="3473069"/>
                </a:lnTo>
                <a:lnTo>
                  <a:pt x="0" y="34730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1"/>
          <p:cNvSpPr/>
          <p:nvPr/>
        </p:nvSpPr>
        <p:spPr>
          <a:xfrm>
            <a:off x="14966915" y="1172764"/>
            <a:ext cx="2762663" cy="2767695"/>
          </a:xfrm>
          <a:custGeom>
            <a:rect b="b" l="l" r="r" t="t"/>
            <a:pathLst>
              <a:path extrusionOk="0" h="2767695" w="2762663">
                <a:moveTo>
                  <a:pt x="0" y="0"/>
                </a:moveTo>
                <a:lnTo>
                  <a:pt x="2762663" y="0"/>
                </a:lnTo>
                <a:lnTo>
                  <a:pt x="2762663" y="2767696"/>
                </a:lnTo>
                <a:lnTo>
                  <a:pt x="0" y="27676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1"/>
          <p:cNvSpPr/>
          <p:nvPr/>
        </p:nvSpPr>
        <p:spPr>
          <a:xfrm rot="10800000">
            <a:off x="529130" y="5490826"/>
            <a:ext cx="3098568" cy="2942948"/>
          </a:xfrm>
          <a:custGeom>
            <a:rect b="b" l="l" r="r" t="t"/>
            <a:pathLst>
              <a:path extrusionOk="0" h="3599937" w="3897570">
                <a:moveTo>
                  <a:pt x="3897570" y="3599937"/>
                </a:moveTo>
                <a:lnTo>
                  <a:pt x="0" y="3599937"/>
                </a:lnTo>
                <a:lnTo>
                  <a:pt x="0" y="0"/>
                </a:lnTo>
                <a:lnTo>
                  <a:pt x="3897570" y="0"/>
                </a:lnTo>
                <a:lnTo>
                  <a:pt x="3897570" y="3599937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1"/>
          <p:cNvSpPr/>
          <p:nvPr/>
        </p:nvSpPr>
        <p:spPr>
          <a:xfrm>
            <a:off x="14660307" y="7096675"/>
            <a:ext cx="3627693" cy="2987900"/>
          </a:xfrm>
          <a:custGeom>
            <a:rect b="b" l="l" r="r" t="t"/>
            <a:pathLst>
              <a:path extrusionOk="0" h="2987900" w="3627693">
                <a:moveTo>
                  <a:pt x="0" y="0"/>
                </a:moveTo>
                <a:lnTo>
                  <a:pt x="3627693" y="0"/>
                </a:lnTo>
                <a:lnTo>
                  <a:pt x="3627693" y="2987900"/>
                </a:lnTo>
                <a:lnTo>
                  <a:pt x="0" y="2987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1"/>
          <p:cNvSpPr txBox="1"/>
          <p:nvPr/>
        </p:nvSpPr>
        <p:spPr>
          <a:xfrm>
            <a:off x="9761850" y="8620850"/>
            <a:ext cx="38178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DM Sans"/>
                <a:ea typeface="DM Sans"/>
                <a:cs typeface="DM Sans"/>
                <a:sym typeface="DM Sans"/>
              </a:rPr>
              <a:t>By: Monzerrat Mejia-Mendoza</a:t>
            </a:r>
            <a:endParaRPr sz="2200"/>
          </a:p>
        </p:txBody>
      </p:sp>
      <p:sp>
        <p:nvSpPr>
          <p:cNvPr id="89" name="Google Shape;89;p11"/>
          <p:cNvSpPr txBox="1"/>
          <p:nvPr/>
        </p:nvSpPr>
        <p:spPr>
          <a:xfrm>
            <a:off x="5034750" y="1172775"/>
            <a:ext cx="398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latin typeface="DM Sans"/>
                <a:ea typeface="DM Sans"/>
                <a:cs typeface="DM Sans"/>
                <a:sym typeface="DM Sans"/>
              </a:rPr>
              <a:t>presented in VSCode</a:t>
            </a:r>
            <a:endParaRPr sz="26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B1C3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2"/>
          <p:cNvGrpSpPr/>
          <p:nvPr/>
        </p:nvGrpSpPr>
        <p:grpSpPr>
          <a:xfrm>
            <a:off x="11658525" y="420775"/>
            <a:ext cx="5524272" cy="6333786"/>
            <a:chOff x="0" y="0"/>
            <a:chExt cx="2792293" cy="853633"/>
          </a:xfrm>
        </p:grpSpPr>
        <p:sp>
          <p:nvSpPr>
            <p:cNvPr id="95" name="Google Shape;95;p12"/>
            <p:cNvSpPr/>
            <p:nvPr/>
          </p:nvSpPr>
          <p:spPr>
            <a:xfrm>
              <a:off x="0" y="0"/>
              <a:ext cx="2792293" cy="853633"/>
            </a:xfrm>
            <a:custGeom>
              <a:rect b="b" l="l" r="r" t="t"/>
              <a:pathLst>
                <a:path extrusionOk="0" h="853633" w="2792293">
                  <a:moveTo>
                    <a:pt x="0" y="0"/>
                  </a:moveTo>
                  <a:lnTo>
                    <a:pt x="2792293" y="0"/>
                  </a:lnTo>
                  <a:lnTo>
                    <a:pt x="2792293" y="853633"/>
                  </a:lnTo>
                  <a:lnTo>
                    <a:pt x="0" y="853633"/>
                  </a:lnTo>
                  <a:close/>
                </a:path>
              </a:pathLst>
            </a:custGeom>
            <a:solidFill>
              <a:srgbClr val="F9F3E5"/>
            </a:solidFill>
            <a:ln cap="sq" cmpd="sng" w="38100">
              <a:solidFill>
                <a:srgbClr val="00896B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96" name="Google Shape;96;p12"/>
            <p:cNvSpPr txBox="1"/>
            <p:nvPr/>
          </p:nvSpPr>
          <p:spPr>
            <a:xfrm>
              <a:off x="0" y="28575"/>
              <a:ext cx="2792293" cy="8250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" name="Google Shape;97;p12"/>
          <p:cNvSpPr/>
          <p:nvPr/>
        </p:nvSpPr>
        <p:spPr>
          <a:xfrm flipH="1">
            <a:off x="14261916" y="5334004"/>
            <a:ext cx="3839710" cy="4820506"/>
          </a:xfrm>
          <a:custGeom>
            <a:rect b="b" l="l" r="r" t="t"/>
            <a:pathLst>
              <a:path extrusionOk="0" h="9181916" w="6677757">
                <a:moveTo>
                  <a:pt x="6677757" y="0"/>
                </a:moveTo>
                <a:lnTo>
                  <a:pt x="0" y="0"/>
                </a:lnTo>
                <a:lnTo>
                  <a:pt x="0" y="9181916"/>
                </a:lnTo>
                <a:lnTo>
                  <a:pt x="6677757" y="9181916"/>
                </a:lnTo>
                <a:lnTo>
                  <a:pt x="667775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sp>
      <p:sp>
        <p:nvSpPr>
          <p:cNvPr id="98" name="Google Shape;98;p12"/>
          <p:cNvSpPr txBox="1"/>
          <p:nvPr/>
        </p:nvSpPr>
        <p:spPr>
          <a:xfrm>
            <a:off x="12068075" y="1505925"/>
            <a:ext cx="4473600" cy="52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latin typeface="DM Sans"/>
                <a:ea typeface="DM Sans"/>
                <a:cs typeface="DM Sans"/>
                <a:sym typeface="DM Sans"/>
              </a:rPr>
              <a:t>Language</a:t>
            </a:r>
            <a:r>
              <a:rPr lang="en-US" sz="3100">
                <a:latin typeface="DM Sans"/>
                <a:ea typeface="DM Sans"/>
                <a:cs typeface="DM Sans"/>
                <a:sym typeface="DM Sans"/>
              </a:rPr>
              <a:t>: Java</a:t>
            </a:r>
            <a:endParaRPr sz="31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latin typeface="DM Sans"/>
                <a:ea typeface="DM Sans"/>
                <a:cs typeface="DM Sans"/>
                <a:sym typeface="DM Sans"/>
              </a:rPr>
              <a:t>Build Tool: </a:t>
            </a:r>
            <a:r>
              <a:rPr lang="en-US" sz="3100">
                <a:latin typeface="DM Sans"/>
                <a:ea typeface="DM Sans"/>
                <a:cs typeface="DM Sans"/>
                <a:sym typeface="DM Sans"/>
              </a:rPr>
              <a:t>Maven</a:t>
            </a:r>
            <a:endParaRPr sz="31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latin typeface="DM Sans"/>
                <a:ea typeface="DM Sans"/>
                <a:cs typeface="DM Sans"/>
                <a:sym typeface="DM Sans"/>
              </a:rPr>
              <a:t>Database</a:t>
            </a:r>
            <a:r>
              <a:rPr lang="en-US" sz="3100">
                <a:latin typeface="DM Sans"/>
                <a:ea typeface="DM Sans"/>
                <a:cs typeface="DM Sans"/>
                <a:sym typeface="DM Sans"/>
              </a:rPr>
              <a:t>: Postgres</a:t>
            </a:r>
            <a:endParaRPr sz="31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latin typeface="DM Sans"/>
                <a:ea typeface="DM Sans"/>
                <a:cs typeface="DM Sans"/>
                <a:sym typeface="DM Sans"/>
              </a:rPr>
              <a:t>Testing</a:t>
            </a:r>
            <a:r>
              <a:rPr lang="en-US" sz="3100">
                <a:latin typeface="DM Sans"/>
                <a:ea typeface="DM Sans"/>
                <a:cs typeface="DM Sans"/>
                <a:sym typeface="DM Sans"/>
              </a:rPr>
              <a:t>: JUnit 5</a:t>
            </a:r>
            <a:endParaRPr sz="31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latin typeface="DM Sans"/>
                <a:ea typeface="DM Sans"/>
                <a:cs typeface="DM Sans"/>
                <a:sym typeface="DM Sans"/>
              </a:rPr>
              <a:t>Verison Control:</a:t>
            </a:r>
            <a:r>
              <a:rPr lang="en-US" sz="3100">
                <a:latin typeface="DM Sans"/>
                <a:ea typeface="DM Sans"/>
                <a:cs typeface="DM Sans"/>
                <a:sym typeface="DM Sans"/>
              </a:rPr>
              <a:t>Git &amp; GitHub</a:t>
            </a:r>
            <a:endParaRPr sz="31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11985422" y="661975"/>
            <a:ext cx="5197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896B"/>
                </a:solidFill>
                <a:latin typeface="Calistoga"/>
                <a:ea typeface="Calistoga"/>
                <a:cs typeface="Calistoga"/>
                <a:sym typeface="Calistoga"/>
              </a:rPr>
              <a:t>The Tech Stack Used:</a:t>
            </a:r>
            <a:endParaRPr sz="4000"/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105991" y="286422"/>
            <a:ext cx="9264990" cy="1620692"/>
            <a:chOff x="0" y="0"/>
            <a:chExt cx="2733600" cy="478179"/>
          </a:xfrm>
        </p:grpSpPr>
        <p:sp>
          <p:nvSpPr>
            <p:cNvPr id="101" name="Google Shape;101;p12"/>
            <p:cNvSpPr/>
            <p:nvPr/>
          </p:nvSpPr>
          <p:spPr>
            <a:xfrm>
              <a:off x="0" y="0"/>
              <a:ext cx="2733497" cy="478179"/>
            </a:xfrm>
            <a:custGeom>
              <a:rect b="b" l="l" r="r" t="t"/>
              <a:pathLst>
                <a:path extrusionOk="0" h="478179" w="2733497">
                  <a:moveTo>
                    <a:pt x="83564" y="0"/>
                  </a:moveTo>
                  <a:lnTo>
                    <a:pt x="2649932" y="0"/>
                  </a:lnTo>
                  <a:cubicBezTo>
                    <a:pt x="2672095" y="0"/>
                    <a:pt x="2693350" y="8804"/>
                    <a:pt x="2709021" y="24475"/>
                  </a:cubicBezTo>
                  <a:cubicBezTo>
                    <a:pt x="2724692" y="40147"/>
                    <a:pt x="2733497" y="61402"/>
                    <a:pt x="2733497" y="83564"/>
                  </a:cubicBezTo>
                  <a:lnTo>
                    <a:pt x="2733497" y="394615"/>
                  </a:lnTo>
                  <a:cubicBezTo>
                    <a:pt x="2733497" y="416778"/>
                    <a:pt x="2724692" y="438033"/>
                    <a:pt x="2709021" y="453704"/>
                  </a:cubicBezTo>
                  <a:cubicBezTo>
                    <a:pt x="2693350" y="469375"/>
                    <a:pt x="2672095" y="478179"/>
                    <a:pt x="2649932" y="478179"/>
                  </a:cubicBezTo>
                  <a:lnTo>
                    <a:pt x="83564" y="478179"/>
                  </a:lnTo>
                  <a:cubicBezTo>
                    <a:pt x="61402" y="478179"/>
                    <a:pt x="40147" y="469375"/>
                    <a:pt x="24475" y="453704"/>
                  </a:cubicBezTo>
                  <a:cubicBezTo>
                    <a:pt x="8804" y="438033"/>
                    <a:pt x="0" y="416778"/>
                    <a:pt x="0" y="394615"/>
                  </a:cubicBezTo>
                  <a:lnTo>
                    <a:pt x="0" y="83564"/>
                  </a:lnTo>
                  <a:cubicBezTo>
                    <a:pt x="0" y="61402"/>
                    <a:pt x="8804" y="40147"/>
                    <a:pt x="24475" y="24475"/>
                  </a:cubicBezTo>
                  <a:cubicBezTo>
                    <a:pt x="40147" y="8804"/>
                    <a:pt x="61402" y="0"/>
                    <a:pt x="83564" y="0"/>
                  </a:cubicBezTo>
                  <a:close/>
                </a:path>
              </a:pathLst>
            </a:custGeom>
            <a:solidFill>
              <a:srgbClr val="00896B"/>
            </a:solidFill>
            <a:ln cap="rnd" cmpd="sng" w="571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2"/>
            <p:cNvSpPr txBox="1"/>
            <p:nvPr/>
          </p:nvSpPr>
          <p:spPr>
            <a:xfrm>
              <a:off x="0" y="9525"/>
              <a:ext cx="2733600" cy="46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1700" lIns="61700" spcFirstLastPara="1" rIns="61700" wrap="square" tIns="61700">
              <a:noAutofit/>
            </a:bodyPr>
            <a:lstStyle/>
            <a:p>
              <a:pPr indent="0" lvl="0" marL="0" marR="0" rtl="0" algn="ctr">
                <a:lnSpc>
                  <a:spcPct val="6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3" name="Google Shape;103;p12"/>
          <p:cNvSpPr txBox="1"/>
          <p:nvPr/>
        </p:nvSpPr>
        <p:spPr>
          <a:xfrm>
            <a:off x="2716795" y="582419"/>
            <a:ext cx="80430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Quick Overview On What Is In Project Bank_of_CLI:</a:t>
            </a:r>
            <a:endParaRPr b="1" i="1" sz="3500"/>
          </a:p>
        </p:txBody>
      </p:sp>
      <p:sp>
        <p:nvSpPr>
          <p:cNvPr id="104" name="Google Shape;104;p12"/>
          <p:cNvSpPr/>
          <p:nvPr/>
        </p:nvSpPr>
        <p:spPr>
          <a:xfrm>
            <a:off x="6092563" y="4812563"/>
            <a:ext cx="5421155" cy="5037877"/>
          </a:xfrm>
          <a:custGeom>
            <a:rect b="b" l="l" r="r" t="t"/>
            <a:pathLst>
              <a:path extrusionOk="0" h="1881560" w="1974920">
                <a:moveTo>
                  <a:pt x="0" y="0"/>
                </a:moveTo>
                <a:lnTo>
                  <a:pt x="1974919" y="0"/>
                </a:lnTo>
                <a:lnTo>
                  <a:pt x="1974919" y="1881560"/>
                </a:lnTo>
                <a:lnTo>
                  <a:pt x="0" y="18815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12"/>
          <p:cNvSpPr txBox="1"/>
          <p:nvPr/>
        </p:nvSpPr>
        <p:spPr>
          <a:xfrm>
            <a:off x="6381098" y="5829758"/>
            <a:ext cx="4844100" cy="31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9975" lIns="169975" spcFirstLastPara="1" rIns="169975" wrap="square" tIns="169975">
            <a:noAutofit/>
          </a:bodyPr>
          <a:lstStyle/>
          <a:p>
            <a:pPr indent="0" lvl="0" marL="0" marR="0" rtl="0" algn="ctr">
              <a:lnSpc>
                <a:spcPct val="11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Object-Oriented Design: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Abstraction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Encapsulation, Inheritance, Polymorphism, singleton pattern &amp; composition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6" name="Google Shape;106;p12"/>
          <p:cNvGrpSpPr/>
          <p:nvPr/>
        </p:nvGrpSpPr>
        <p:grpSpPr>
          <a:xfrm>
            <a:off x="185604" y="2201610"/>
            <a:ext cx="5762141" cy="5248787"/>
            <a:chOff x="0" y="0"/>
            <a:chExt cx="2296131" cy="2091567"/>
          </a:xfrm>
        </p:grpSpPr>
        <p:sp>
          <p:nvSpPr>
            <p:cNvPr id="107" name="Google Shape;107;p12"/>
            <p:cNvSpPr/>
            <p:nvPr/>
          </p:nvSpPr>
          <p:spPr>
            <a:xfrm>
              <a:off x="0" y="0"/>
              <a:ext cx="2296131" cy="2091567"/>
            </a:xfrm>
            <a:custGeom>
              <a:rect b="b" l="l" r="r" t="t"/>
              <a:pathLst>
                <a:path extrusionOk="0" h="2091567" w="2296131">
                  <a:moveTo>
                    <a:pt x="0" y="0"/>
                  </a:moveTo>
                  <a:lnTo>
                    <a:pt x="2296131" y="0"/>
                  </a:lnTo>
                  <a:lnTo>
                    <a:pt x="2296131" y="2091567"/>
                  </a:lnTo>
                  <a:lnTo>
                    <a:pt x="0" y="20915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108" name="Google Shape;108;p12"/>
            <p:cNvGrpSpPr/>
            <p:nvPr/>
          </p:nvGrpSpPr>
          <p:grpSpPr>
            <a:xfrm>
              <a:off x="182858" y="434020"/>
              <a:ext cx="1930375" cy="1280659"/>
              <a:chOff x="0" y="0"/>
              <a:chExt cx="2211704" cy="1467300"/>
            </a:xfrm>
          </p:grpSpPr>
          <p:sp>
            <p:nvSpPr>
              <p:cNvPr id="109" name="Google Shape;109;p12"/>
              <p:cNvSpPr/>
              <p:nvPr/>
            </p:nvSpPr>
            <p:spPr>
              <a:xfrm>
                <a:off x="0" y="0"/>
                <a:ext cx="2211704" cy="1467258"/>
              </a:xfrm>
              <a:custGeom>
                <a:rect b="b" l="l" r="r" t="t"/>
                <a:pathLst>
                  <a:path extrusionOk="0" h="1467258" w="2211704">
                    <a:moveTo>
                      <a:pt x="0" y="0"/>
                    </a:moveTo>
                    <a:lnTo>
                      <a:pt x="2211704" y="0"/>
                    </a:lnTo>
                    <a:lnTo>
                      <a:pt x="2211704" y="1467258"/>
                    </a:lnTo>
                    <a:lnTo>
                      <a:pt x="0" y="1467258"/>
                    </a:lnTo>
                    <a:close/>
                  </a:path>
                </a:pathLst>
              </a:custGeom>
              <a:solidFill>
                <a:srgbClr val="FFB1C3"/>
              </a:solidFill>
              <a:ln>
                <a:noFill/>
              </a:ln>
            </p:spPr>
          </p:sp>
          <p:sp>
            <p:nvSpPr>
              <p:cNvPr id="110" name="Google Shape;110;p12"/>
              <p:cNvSpPr txBox="1"/>
              <p:nvPr/>
            </p:nvSpPr>
            <p:spPr>
              <a:xfrm>
                <a:off x="0" y="38100"/>
                <a:ext cx="2211600" cy="142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69975" lIns="169975" spcFirstLastPara="1" rIns="169975" wrap="square" tIns="169975">
                <a:noAutofit/>
              </a:bodyPr>
              <a:lstStyle/>
              <a:p>
                <a:pPr indent="0" lvl="0" marL="0" marR="0" rtl="0" algn="ctr">
                  <a:lnSpc>
                    <a:spcPct val="111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3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Multilayered Architecture:</a:t>
                </a:r>
                <a:endParaRPr b="1" sz="3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ctr">
                  <a:lnSpc>
                    <a:spcPct val="111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API Layer -&gt; Service Layer -&gt; Persistence Layer -&gt; PostgreSQL</a:t>
                </a:r>
                <a:endParaRPr sz="3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3E5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"/>
          <p:cNvSpPr/>
          <p:nvPr/>
        </p:nvSpPr>
        <p:spPr>
          <a:xfrm>
            <a:off x="13144493" y="0"/>
            <a:ext cx="5143500" cy="5143500"/>
          </a:xfrm>
          <a:custGeom>
            <a:rect b="b" l="l" r="r" t="t"/>
            <a:pathLst>
              <a:path extrusionOk="0"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6" name="Google Shape;116;p13"/>
          <p:cNvSpPr/>
          <p:nvPr/>
        </p:nvSpPr>
        <p:spPr>
          <a:xfrm>
            <a:off x="6750676" y="5143500"/>
            <a:ext cx="4783455" cy="5143500"/>
          </a:xfrm>
          <a:custGeom>
            <a:rect b="b" l="l" r="r" t="t"/>
            <a:pathLst>
              <a:path extrusionOk="0"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13"/>
          <p:cNvSpPr/>
          <p:nvPr/>
        </p:nvSpPr>
        <p:spPr>
          <a:xfrm>
            <a:off x="-7" y="0"/>
            <a:ext cx="5143500" cy="5143500"/>
          </a:xfrm>
          <a:custGeom>
            <a:rect b="b" l="l" r="r" t="t"/>
            <a:pathLst>
              <a:path extrusionOk="0"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13"/>
          <p:cNvSpPr/>
          <p:nvPr/>
        </p:nvSpPr>
        <p:spPr>
          <a:xfrm>
            <a:off x="-2" y="5143500"/>
            <a:ext cx="6750844" cy="5143500"/>
          </a:xfrm>
          <a:custGeom>
            <a:rect b="b" l="l" r="r" t="t"/>
            <a:pathLst>
              <a:path extrusionOk="0"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13"/>
          <p:cNvSpPr txBox="1"/>
          <p:nvPr/>
        </p:nvSpPr>
        <p:spPr>
          <a:xfrm rot="318">
            <a:off x="5866314" y="249525"/>
            <a:ext cx="6487200" cy="13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999" u="sng">
                <a:solidFill>
                  <a:srgbClr val="00896B"/>
                </a:solidFill>
                <a:latin typeface="Calistoga"/>
                <a:ea typeface="Calistoga"/>
                <a:cs typeface="Calistoga"/>
                <a:sym typeface="Calistoga"/>
              </a:rPr>
              <a:t>JAVA</a:t>
            </a:r>
            <a:endParaRPr b="1" sz="9999" u="sng">
              <a:solidFill>
                <a:srgbClr val="00896B"/>
              </a:solidFill>
              <a:latin typeface="Calistoga"/>
              <a:ea typeface="Calistoga"/>
              <a:cs typeface="Calistoga"/>
              <a:sym typeface="Calistoga"/>
            </a:endParaRPr>
          </a:p>
        </p:txBody>
      </p:sp>
      <p:sp>
        <p:nvSpPr>
          <p:cNvPr id="120" name="Google Shape;120;p13"/>
          <p:cNvSpPr/>
          <p:nvPr/>
        </p:nvSpPr>
        <p:spPr>
          <a:xfrm>
            <a:off x="11537148" y="5143500"/>
            <a:ext cx="6750844" cy="5143500"/>
          </a:xfrm>
          <a:custGeom>
            <a:rect b="b" l="l" r="r" t="t"/>
            <a:pathLst>
              <a:path extrusionOk="0"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13"/>
          <p:cNvSpPr/>
          <p:nvPr/>
        </p:nvSpPr>
        <p:spPr>
          <a:xfrm>
            <a:off x="1306289" y="977605"/>
            <a:ext cx="2069109" cy="1971297"/>
          </a:xfrm>
          <a:custGeom>
            <a:rect b="b" l="l" r="r" t="t"/>
            <a:pathLst>
              <a:path extrusionOk="0" h="1971297" w="2069109">
                <a:moveTo>
                  <a:pt x="0" y="0"/>
                </a:moveTo>
                <a:lnTo>
                  <a:pt x="2069109" y="0"/>
                </a:lnTo>
                <a:lnTo>
                  <a:pt x="2069109" y="1971296"/>
                </a:lnTo>
                <a:lnTo>
                  <a:pt x="0" y="19712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13"/>
          <p:cNvSpPr/>
          <p:nvPr/>
        </p:nvSpPr>
        <p:spPr>
          <a:xfrm>
            <a:off x="15242161" y="949591"/>
            <a:ext cx="2069109" cy="1971297"/>
          </a:xfrm>
          <a:custGeom>
            <a:rect b="b" l="l" r="r" t="t"/>
            <a:pathLst>
              <a:path extrusionOk="0" h="1971297" w="2069109">
                <a:moveTo>
                  <a:pt x="0" y="0"/>
                </a:moveTo>
                <a:lnTo>
                  <a:pt x="2069109" y="0"/>
                </a:lnTo>
                <a:lnTo>
                  <a:pt x="2069109" y="1971296"/>
                </a:lnTo>
                <a:lnTo>
                  <a:pt x="0" y="19712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23" name="Google Shape;123;p13" title="jav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86691" y="1182452"/>
            <a:ext cx="1508300" cy="138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3" title="jav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522563" y="1125571"/>
            <a:ext cx="1508300" cy="138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3"/>
          <p:cNvSpPr/>
          <p:nvPr/>
        </p:nvSpPr>
        <p:spPr>
          <a:xfrm>
            <a:off x="100" y="5143500"/>
            <a:ext cx="18288000" cy="138600"/>
          </a:xfrm>
          <a:prstGeom prst="rect">
            <a:avLst/>
          </a:prstGeom>
          <a:solidFill>
            <a:srgbClr val="00896B"/>
          </a:solidFill>
          <a:ln cap="flat" cmpd="sng" w="9525">
            <a:solidFill>
              <a:srgbClr val="008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3"/>
          <p:cNvSpPr/>
          <p:nvPr/>
        </p:nvSpPr>
        <p:spPr>
          <a:xfrm>
            <a:off x="5148639" y="0"/>
            <a:ext cx="154500" cy="5282100"/>
          </a:xfrm>
          <a:prstGeom prst="rect">
            <a:avLst/>
          </a:prstGeom>
          <a:solidFill>
            <a:srgbClr val="00896B"/>
          </a:solidFill>
          <a:ln cap="flat" cmpd="sng" w="9525">
            <a:solidFill>
              <a:srgbClr val="008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13076341" y="2"/>
            <a:ext cx="154500" cy="5282100"/>
          </a:xfrm>
          <a:prstGeom prst="rect">
            <a:avLst/>
          </a:prstGeom>
          <a:solidFill>
            <a:srgbClr val="00896B"/>
          </a:solidFill>
          <a:ln cap="flat" cmpd="sng" w="9525">
            <a:solidFill>
              <a:srgbClr val="008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276450" y="6428750"/>
            <a:ext cx="60372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layer is in plain Java. For ex: interfaces, classes, a custom BankExeception and I/O  for the CLI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5734475" y="2213063"/>
            <a:ext cx="6750900" cy="19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general purpose, object-oriented , statically typed language that runs on the JVM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3"/>
          <p:cNvSpPr txBox="1"/>
          <p:nvPr/>
        </p:nvSpPr>
        <p:spPr>
          <a:xfrm>
            <a:off x="276450" y="5547637"/>
            <a:ext cx="4590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u="sng">
                <a:solidFill>
                  <a:srgbClr val="00896B"/>
                </a:solidFill>
                <a:latin typeface="Calistoga"/>
                <a:ea typeface="Calistoga"/>
                <a:cs typeface="Calistoga"/>
                <a:sym typeface="Calistoga"/>
              </a:rPr>
              <a:t>how its used:</a:t>
            </a:r>
            <a:endParaRPr sz="4000" u="sng"/>
          </a:p>
        </p:txBody>
      </p:sp>
      <p:sp>
        <p:nvSpPr>
          <p:cNvPr id="131" name="Google Shape;131;p13"/>
          <p:cNvSpPr txBox="1"/>
          <p:nvPr/>
        </p:nvSpPr>
        <p:spPr>
          <a:xfrm>
            <a:off x="13676055" y="5547625"/>
            <a:ext cx="3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u="sng">
                <a:solidFill>
                  <a:srgbClr val="00896B"/>
                </a:solidFill>
                <a:latin typeface="Calistoga"/>
                <a:ea typeface="Calistoga"/>
                <a:cs typeface="Calistoga"/>
                <a:sym typeface="Calistoga"/>
              </a:rPr>
              <a:t>why it fits:</a:t>
            </a:r>
            <a:endParaRPr sz="4000" u="sng"/>
          </a:p>
        </p:txBody>
      </p:sp>
      <p:sp>
        <p:nvSpPr>
          <p:cNvPr id="132" name="Google Shape;132;p13"/>
          <p:cNvSpPr txBox="1"/>
          <p:nvPr/>
        </p:nvSpPr>
        <p:spPr>
          <a:xfrm>
            <a:off x="12219225" y="6428750"/>
            <a:ext cx="58050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 typing and first class OOP fit a layered design and its the required stack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3"/>
          <p:cNvSpPr/>
          <p:nvPr/>
        </p:nvSpPr>
        <p:spPr>
          <a:xfrm flipH="1">
            <a:off x="7450589" y="6241221"/>
            <a:ext cx="3386816" cy="3269016"/>
          </a:xfrm>
          <a:custGeom>
            <a:rect b="b" l="l" r="r" t="t"/>
            <a:pathLst>
              <a:path extrusionOk="0" h="2002460" w="1995179">
                <a:moveTo>
                  <a:pt x="1995178" y="0"/>
                </a:moveTo>
                <a:lnTo>
                  <a:pt x="0" y="0"/>
                </a:lnTo>
                <a:lnTo>
                  <a:pt x="0" y="2002461"/>
                </a:lnTo>
                <a:lnTo>
                  <a:pt x="1995178" y="2002461"/>
                </a:lnTo>
                <a:lnTo>
                  <a:pt x="1995178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3E5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"/>
          <p:cNvSpPr txBox="1"/>
          <p:nvPr/>
        </p:nvSpPr>
        <p:spPr>
          <a:xfrm rot="318">
            <a:off x="5866314" y="249525"/>
            <a:ext cx="6487200" cy="13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999" u="sng">
                <a:solidFill>
                  <a:srgbClr val="00896B"/>
                </a:solidFill>
                <a:latin typeface="Calistoga"/>
                <a:ea typeface="Calistoga"/>
                <a:cs typeface="Calistoga"/>
                <a:sym typeface="Calistoga"/>
              </a:rPr>
              <a:t>MAVEN</a:t>
            </a:r>
            <a:r>
              <a:rPr b="1" lang="en-US" sz="9999" u="sng">
                <a:solidFill>
                  <a:srgbClr val="00896B"/>
                </a:solidFill>
                <a:latin typeface="Calistoga"/>
                <a:ea typeface="Calistoga"/>
                <a:cs typeface="Calistoga"/>
                <a:sym typeface="Calistoga"/>
              </a:rPr>
              <a:t> </a:t>
            </a:r>
            <a:endParaRPr b="1" sz="9999" u="sng">
              <a:solidFill>
                <a:srgbClr val="00896B"/>
              </a:solidFill>
              <a:latin typeface="Calistoga"/>
              <a:ea typeface="Calistoga"/>
              <a:cs typeface="Calistoga"/>
              <a:sym typeface="Calistoga"/>
            </a:endParaRPr>
          </a:p>
        </p:txBody>
      </p:sp>
      <p:sp>
        <p:nvSpPr>
          <p:cNvPr id="139" name="Google Shape;139;p14"/>
          <p:cNvSpPr/>
          <p:nvPr/>
        </p:nvSpPr>
        <p:spPr>
          <a:xfrm>
            <a:off x="0" y="0"/>
            <a:ext cx="5143500" cy="5143500"/>
          </a:xfrm>
          <a:custGeom>
            <a:rect b="b" l="l" r="r" t="t"/>
            <a:pathLst>
              <a:path extrusionOk="0"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14"/>
          <p:cNvSpPr/>
          <p:nvPr/>
        </p:nvSpPr>
        <p:spPr>
          <a:xfrm>
            <a:off x="13230850" y="0"/>
            <a:ext cx="5053489" cy="5143500"/>
          </a:xfrm>
          <a:custGeom>
            <a:rect b="b" l="l" r="r" t="t"/>
            <a:pathLst>
              <a:path extrusionOk="0"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14"/>
          <p:cNvSpPr/>
          <p:nvPr/>
        </p:nvSpPr>
        <p:spPr>
          <a:xfrm>
            <a:off x="100" y="5143500"/>
            <a:ext cx="18288000" cy="138600"/>
          </a:xfrm>
          <a:prstGeom prst="rect">
            <a:avLst/>
          </a:prstGeom>
          <a:solidFill>
            <a:srgbClr val="00896B"/>
          </a:solidFill>
          <a:ln cap="flat" cmpd="sng" w="9525">
            <a:solidFill>
              <a:srgbClr val="008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5148639" y="0"/>
            <a:ext cx="154500" cy="5282100"/>
          </a:xfrm>
          <a:prstGeom prst="rect">
            <a:avLst/>
          </a:prstGeom>
          <a:solidFill>
            <a:srgbClr val="00896B"/>
          </a:solidFill>
          <a:ln cap="flat" cmpd="sng" w="9525">
            <a:solidFill>
              <a:srgbClr val="008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/>
          <p:nvPr/>
        </p:nvSpPr>
        <p:spPr>
          <a:xfrm>
            <a:off x="13076341" y="2"/>
            <a:ext cx="154500" cy="5282100"/>
          </a:xfrm>
          <a:prstGeom prst="rect">
            <a:avLst/>
          </a:prstGeom>
          <a:solidFill>
            <a:srgbClr val="00896B"/>
          </a:solidFill>
          <a:ln cap="flat" cmpd="sng" w="9525">
            <a:solidFill>
              <a:srgbClr val="008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100" y="5282100"/>
            <a:ext cx="6750844" cy="5002054"/>
          </a:xfrm>
          <a:custGeom>
            <a:rect b="b" l="l" r="r" t="t"/>
            <a:pathLst>
              <a:path extrusionOk="0"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14"/>
          <p:cNvSpPr/>
          <p:nvPr/>
        </p:nvSpPr>
        <p:spPr>
          <a:xfrm>
            <a:off x="11534125" y="5282100"/>
            <a:ext cx="6750844" cy="5002054"/>
          </a:xfrm>
          <a:custGeom>
            <a:rect b="b" l="l" r="r" t="t"/>
            <a:pathLst>
              <a:path extrusionOk="0"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14"/>
          <p:cNvSpPr/>
          <p:nvPr/>
        </p:nvSpPr>
        <p:spPr>
          <a:xfrm>
            <a:off x="6750950" y="5282100"/>
            <a:ext cx="4783455" cy="5002054"/>
          </a:xfrm>
          <a:custGeom>
            <a:rect b="b" l="l" r="r" t="t"/>
            <a:pathLst>
              <a:path extrusionOk="0"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14"/>
          <p:cNvSpPr/>
          <p:nvPr/>
        </p:nvSpPr>
        <p:spPr>
          <a:xfrm>
            <a:off x="1306289" y="977605"/>
            <a:ext cx="2069109" cy="1971297"/>
          </a:xfrm>
          <a:custGeom>
            <a:rect b="b" l="l" r="r" t="t"/>
            <a:pathLst>
              <a:path extrusionOk="0" h="1971297" w="2069109">
                <a:moveTo>
                  <a:pt x="0" y="0"/>
                </a:moveTo>
                <a:lnTo>
                  <a:pt x="2069109" y="0"/>
                </a:lnTo>
                <a:lnTo>
                  <a:pt x="2069109" y="1971296"/>
                </a:lnTo>
                <a:lnTo>
                  <a:pt x="0" y="19712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14"/>
          <p:cNvSpPr/>
          <p:nvPr/>
        </p:nvSpPr>
        <p:spPr>
          <a:xfrm>
            <a:off x="15242161" y="949591"/>
            <a:ext cx="2069109" cy="1971297"/>
          </a:xfrm>
          <a:custGeom>
            <a:rect b="b" l="l" r="r" t="t"/>
            <a:pathLst>
              <a:path extrusionOk="0" h="1971297" w="2069109">
                <a:moveTo>
                  <a:pt x="0" y="0"/>
                </a:moveTo>
                <a:lnTo>
                  <a:pt x="2069109" y="0"/>
                </a:lnTo>
                <a:lnTo>
                  <a:pt x="2069109" y="1971296"/>
                </a:lnTo>
                <a:lnTo>
                  <a:pt x="0" y="19712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49" name="Google Shape;149;p14" title="mave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76025" y="1382454"/>
            <a:ext cx="1385700" cy="138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4" title="mave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583862" y="1326434"/>
            <a:ext cx="1385700" cy="138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4"/>
          <p:cNvSpPr txBox="1"/>
          <p:nvPr/>
        </p:nvSpPr>
        <p:spPr>
          <a:xfrm>
            <a:off x="276450" y="6428750"/>
            <a:ext cx="60372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pulls in the postgreSQL database and Junit5, enforces the standard src/main and src/test layout and runs the suite w/mvn test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4"/>
          <p:cNvSpPr txBox="1"/>
          <p:nvPr/>
        </p:nvSpPr>
        <p:spPr>
          <a:xfrm>
            <a:off x="276450" y="5547637"/>
            <a:ext cx="4590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u="sng">
                <a:solidFill>
                  <a:srgbClr val="00896B"/>
                </a:solidFill>
                <a:latin typeface="Calistoga"/>
                <a:ea typeface="Calistoga"/>
                <a:cs typeface="Calistoga"/>
                <a:sym typeface="Calistoga"/>
              </a:rPr>
              <a:t>how its used:</a:t>
            </a:r>
            <a:endParaRPr sz="4000" u="sng"/>
          </a:p>
        </p:txBody>
      </p:sp>
      <p:sp>
        <p:nvSpPr>
          <p:cNvPr id="153" name="Google Shape;153;p14"/>
          <p:cNvSpPr txBox="1"/>
          <p:nvPr/>
        </p:nvSpPr>
        <p:spPr>
          <a:xfrm>
            <a:off x="13676055" y="5547625"/>
            <a:ext cx="3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u="sng">
                <a:solidFill>
                  <a:srgbClr val="00896B"/>
                </a:solidFill>
                <a:latin typeface="Calistoga"/>
                <a:ea typeface="Calistoga"/>
                <a:cs typeface="Calistoga"/>
                <a:sym typeface="Calistoga"/>
              </a:rPr>
              <a:t>why it fits:</a:t>
            </a:r>
            <a:endParaRPr sz="4000" u="sng"/>
          </a:p>
        </p:txBody>
      </p:sp>
      <p:sp>
        <p:nvSpPr>
          <p:cNvPr id="154" name="Google Shape;154;p14"/>
          <p:cNvSpPr txBox="1"/>
          <p:nvPr/>
        </p:nvSpPr>
        <p:spPr>
          <a:xfrm>
            <a:off x="12219225" y="6428750"/>
            <a:ext cx="58050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well anyone can clone the repo and build it the same way, with NO downloaded jars (assuming they also used a Docker container as well)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4"/>
          <p:cNvSpPr txBox="1"/>
          <p:nvPr/>
        </p:nvSpPr>
        <p:spPr>
          <a:xfrm>
            <a:off x="5734475" y="2213063"/>
            <a:ext cx="6750900" cy="19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build and dependency manager configured through a single pom.xml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6" name="Google Shape;156;p14"/>
          <p:cNvGrpSpPr/>
          <p:nvPr/>
        </p:nvGrpSpPr>
        <p:grpSpPr>
          <a:xfrm>
            <a:off x="6504238" y="5631113"/>
            <a:ext cx="5279724" cy="4304027"/>
            <a:chOff x="0" y="0"/>
            <a:chExt cx="2296131" cy="2091567"/>
          </a:xfrm>
        </p:grpSpPr>
        <p:sp>
          <p:nvSpPr>
            <p:cNvPr id="157" name="Google Shape;157;p14"/>
            <p:cNvSpPr/>
            <p:nvPr/>
          </p:nvSpPr>
          <p:spPr>
            <a:xfrm>
              <a:off x="0" y="0"/>
              <a:ext cx="2296131" cy="2091567"/>
            </a:xfrm>
            <a:custGeom>
              <a:rect b="b" l="l" r="r" t="t"/>
              <a:pathLst>
                <a:path extrusionOk="0" h="2091567" w="2296131">
                  <a:moveTo>
                    <a:pt x="0" y="0"/>
                  </a:moveTo>
                  <a:lnTo>
                    <a:pt x="2296131" y="0"/>
                  </a:lnTo>
                  <a:lnTo>
                    <a:pt x="2296131" y="2091567"/>
                  </a:lnTo>
                  <a:lnTo>
                    <a:pt x="0" y="20915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158" name="Google Shape;158;p14"/>
            <p:cNvGrpSpPr/>
            <p:nvPr/>
          </p:nvGrpSpPr>
          <p:grpSpPr>
            <a:xfrm>
              <a:off x="182858" y="434020"/>
              <a:ext cx="1930375" cy="1280659"/>
              <a:chOff x="0" y="0"/>
              <a:chExt cx="2211704" cy="1467300"/>
            </a:xfrm>
          </p:grpSpPr>
          <p:sp>
            <p:nvSpPr>
              <p:cNvPr id="159" name="Google Shape;159;p14"/>
              <p:cNvSpPr/>
              <p:nvPr/>
            </p:nvSpPr>
            <p:spPr>
              <a:xfrm>
                <a:off x="0" y="0"/>
                <a:ext cx="2211704" cy="1467258"/>
              </a:xfrm>
              <a:custGeom>
                <a:rect b="b" l="l" r="r" t="t"/>
                <a:pathLst>
                  <a:path extrusionOk="0" h="1467258" w="2211704">
                    <a:moveTo>
                      <a:pt x="0" y="0"/>
                    </a:moveTo>
                    <a:lnTo>
                      <a:pt x="2211704" y="0"/>
                    </a:lnTo>
                    <a:lnTo>
                      <a:pt x="2211704" y="1467258"/>
                    </a:lnTo>
                    <a:lnTo>
                      <a:pt x="0" y="1467258"/>
                    </a:lnTo>
                    <a:close/>
                  </a:path>
                </a:pathLst>
              </a:custGeom>
              <a:solidFill>
                <a:srgbClr val="FFB1C3"/>
              </a:solidFill>
              <a:ln>
                <a:noFill/>
              </a:ln>
            </p:spPr>
          </p:sp>
          <p:sp>
            <p:nvSpPr>
              <p:cNvPr id="160" name="Google Shape;160;p14"/>
              <p:cNvSpPr txBox="1"/>
              <p:nvPr/>
            </p:nvSpPr>
            <p:spPr>
              <a:xfrm>
                <a:off x="0" y="38100"/>
                <a:ext cx="2211600" cy="1429200"/>
              </a:xfrm>
              <a:prstGeom prst="rect">
                <a:avLst/>
              </a:prstGeom>
              <a:solidFill>
                <a:srgbClr val="00896B"/>
              </a:solidFill>
              <a:ln>
                <a:noFill/>
              </a:ln>
            </p:spPr>
            <p:txBody>
              <a:bodyPr anchorCtr="0" anchor="ctr" bIns="111250" lIns="111250" spcFirstLastPara="1" rIns="111250" wrap="square" tIns="111250">
                <a:noAutofit/>
              </a:bodyPr>
              <a:lstStyle/>
              <a:p>
                <a:pPr indent="0" lvl="0" marL="0" marR="0" rtl="0" algn="ctr">
                  <a:lnSpc>
                    <a:spcPct val="111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3942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3E5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"/>
          <p:cNvSpPr/>
          <p:nvPr/>
        </p:nvSpPr>
        <p:spPr>
          <a:xfrm>
            <a:off x="13144493" y="0"/>
            <a:ext cx="5143500" cy="5143500"/>
          </a:xfrm>
          <a:custGeom>
            <a:rect b="b" l="l" r="r" t="t"/>
            <a:pathLst>
              <a:path extrusionOk="0"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15"/>
          <p:cNvSpPr/>
          <p:nvPr/>
        </p:nvSpPr>
        <p:spPr>
          <a:xfrm>
            <a:off x="6750676" y="5143500"/>
            <a:ext cx="4783455" cy="5143500"/>
          </a:xfrm>
          <a:custGeom>
            <a:rect b="b" l="l" r="r" t="t"/>
            <a:pathLst>
              <a:path extrusionOk="0"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15"/>
          <p:cNvSpPr/>
          <p:nvPr/>
        </p:nvSpPr>
        <p:spPr>
          <a:xfrm>
            <a:off x="-7" y="0"/>
            <a:ext cx="5143500" cy="5143500"/>
          </a:xfrm>
          <a:custGeom>
            <a:rect b="b" l="l" r="r" t="t"/>
            <a:pathLst>
              <a:path extrusionOk="0"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15"/>
          <p:cNvSpPr/>
          <p:nvPr/>
        </p:nvSpPr>
        <p:spPr>
          <a:xfrm>
            <a:off x="-2" y="5143500"/>
            <a:ext cx="6750844" cy="5143500"/>
          </a:xfrm>
          <a:custGeom>
            <a:rect b="b" l="l" r="r" t="t"/>
            <a:pathLst>
              <a:path extrusionOk="0"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15"/>
          <p:cNvSpPr txBox="1"/>
          <p:nvPr/>
        </p:nvSpPr>
        <p:spPr>
          <a:xfrm rot="274">
            <a:off x="5406844" y="249475"/>
            <a:ext cx="75243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999" u="sng">
                <a:solidFill>
                  <a:srgbClr val="00896B"/>
                </a:solidFill>
                <a:latin typeface="Calistoga"/>
                <a:ea typeface="Calistoga"/>
                <a:cs typeface="Calistoga"/>
                <a:sym typeface="Calistoga"/>
              </a:rPr>
              <a:t>JUNIT 5</a:t>
            </a:r>
            <a:endParaRPr b="1" sz="9999" u="sng">
              <a:solidFill>
                <a:srgbClr val="00896B"/>
              </a:solidFill>
              <a:latin typeface="Calistoga"/>
              <a:ea typeface="Calistoga"/>
              <a:cs typeface="Calistoga"/>
              <a:sym typeface="Calistoga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999" u="sng">
                <a:solidFill>
                  <a:srgbClr val="00896B"/>
                </a:solidFill>
                <a:latin typeface="Calistoga"/>
                <a:ea typeface="Calistoga"/>
                <a:cs typeface="Calistoga"/>
                <a:sym typeface="Calistoga"/>
              </a:rPr>
              <a:t>W/MOCKITO</a:t>
            </a:r>
            <a:endParaRPr b="1" sz="9999" u="sng">
              <a:solidFill>
                <a:srgbClr val="00896B"/>
              </a:solidFill>
              <a:latin typeface="Calistoga"/>
              <a:ea typeface="Calistoga"/>
              <a:cs typeface="Calistoga"/>
              <a:sym typeface="Calistoga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11537148" y="5143500"/>
            <a:ext cx="6750844" cy="5143500"/>
          </a:xfrm>
          <a:custGeom>
            <a:rect b="b" l="l" r="r" t="t"/>
            <a:pathLst>
              <a:path extrusionOk="0"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15"/>
          <p:cNvSpPr/>
          <p:nvPr/>
        </p:nvSpPr>
        <p:spPr>
          <a:xfrm>
            <a:off x="1306289" y="977605"/>
            <a:ext cx="2069109" cy="1971297"/>
          </a:xfrm>
          <a:custGeom>
            <a:rect b="b" l="l" r="r" t="t"/>
            <a:pathLst>
              <a:path extrusionOk="0" h="1971297" w="2069109">
                <a:moveTo>
                  <a:pt x="0" y="0"/>
                </a:moveTo>
                <a:lnTo>
                  <a:pt x="2069109" y="0"/>
                </a:lnTo>
                <a:lnTo>
                  <a:pt x="2069109" y="1971296"/>
                </a:lnTo>
                <a:lnTo>
                  <a:pt x="0" y="19712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15"/>
          <p:cNvSpPr/>
          <p:nvPr/>
        </p:nvSpPr>
        <p:spPr>
          <a:xfrm>
            <a:off x="15242161" y="949591"/>
            <a:ext cx="2069109" cy="1971297"/>
          </a:xfrm>
          <a:custGeom>
            <a:rect b="b" l="l" r="r" t="t"/>
            <a:pathLst>
              <a:path extrusionOk="0" h="1971297" w="2069109">
                <a:moveTo>
                  <a:pt x="0" y="0"/>
                </a:moveTo>
                <a:lnTo>
                  <a:pt x="2069109" y="0"/>
                </a:lnTo>
                <a:lnTo>
                  <a:pt x="2069109" y="1971296"/>
                </a:lnTo>
                <a:lnTo>
                  <a:pt x="0" y="19712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15"/>
          <p:cNvSpPr/>
          <p:nvPr/>
        </p:nvSpPr>
        <p:spPr>
          <a:xfrm>
            <a:off x="100" y="5143500"/>
            <a:ext cx="18288000" cy="138600"/>
          </a:xfrm>
          <a:prstGeom prst="rect">
            <a:avLst/>
          </a:prstGeom>
          <a:solidFill>
            <a:srgbClr val="00896B"/>
          </a:solidFill>
          <a:ln cap="flat" cmpd="sng" w="9525">
            <a:solidFill>
              <a:srgbClr val="008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5148639" y="0"/>
            <a:ext cx="154500" cy="5282100"/>
          </a:xfrm>
          <a:prstGeom prst="rect">
            <a:avLst/>
          </a:prstGeom>
          <a:solidFill>
            <a:srgbClr val="00896B"/>
          </a:solidFill>
          <a:ln cap="flat" cmpd="sng" w="9525">
            <a:solidFill>
              <a:srgbClr val="008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/>
          <p:cNvSpPr/>
          <p:nvPr/>
        </p:nvSpPr>
        <p:spPr>
          <a:xfrm>
            <a:off x="13076341" y="2"/>
            <a:ext cx="154500" cy="5282100"/>
          </a:xfrm>
          <a:prstGeom prst="rect">
            <a:avLst/>
          </a:prstGeom>
          <a:solidFill>
            <a:srgbClr val="00896B"/>
          </a:solidFill>
          <a:ln cap="flat" cmpd="sng" w="9525">
            <a:solidFill>
              <a:srgbClr val="008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15" title="juni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86851" y="1437266"/>
            <a:ext cx="1108000" cy="11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5" title="juni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722713" y="1437266"/>
            <a:ext cx="1108000" cy="11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5"/>
          <p:cNvSpPr txBox="1"/>
          <p:nvPr/>
        </p:nvSpPr>
        <p:spPr>
          <a:xfrm>
            <a:off x="100" y="6163225"/>
            <a:ext cx="7316400" cy="41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JUnit along w/Mockito to meaningfully validating application behavior through positive tests, it confirms valid deposits update the DAO and negative tests which ensures negative amounts throw an exception w/out invoking the database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5"/>
          <p:cNvSpPr txBox="1"/>
          <p:nvPr/>
        </p:nvSpPr>
        <p:spPr>
          <a:xfrm>
            <a:off x="276450" y="5547637"/>
            <a:ext cx="4590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u="sng">
                <a:solidFill>
                  <a:srgbClr val="00896B"/>
                </a:solidFill>
                <a:latin typeface="Calistoga"/>
                <a:ea typeface="Calistoga"/>
                <a:cs typeface="Calistoga"/>
                <a:sym typeface="Calistoga"/>
              </a:rPr>
              <a:t>how its used:</a:t>
            </a:r>
            <a:endParaRPr sz="4000" u="sng"/>
          </a:p>
        </p:txBody>
      </p:sp>
      <p:sp>
        <p:nvSpPr>
          <p:cNvPr id="180" name="Google Shape;180;p15"/>
          <p:cNvSpPr txBox="1"/>
          <p:nvPr/>
        </p:nvSpPr>
        <p:spPr>
          <a:xfrm>
            <a:off x="13676055" y="5547625"/>
            <a:ext cx="3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u="sng">
                <a:solidFill>
                  <a:srgbClr val="00896B"/>
                </a:solidFill>
                <a:latin typeface="Calistoga"/>
                <a:ea typeface="Calistoga"/>
                <a:cs typeface="Calistoga"/>
                <a:sym typeface="Calistoga"/>
              </a:rPr>
              <a:t>why it fits:</a:t>
            </a:r>
            <a:endParaRPr sz="4000" u="sng"/>
          </a:p>
        </p:txBody>
      </p:sp>
      <p:sp>
        <p:nvSpPr>
          <p:cNvPr id="181" name="Google Shape;181;p15"/>
          <p:cNvSpPr txBox="1"/>
          <p:nvPr/>
        </p:nvSpPr>
        <p:spPr>
          <a:xfrm>
            <a:off x="12219225" y="6428750"/>
            <a:ext cx="58050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requires strict accuracy and ensure the core financial logic works well w/out needing a live database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5"/>
          <p:cNvSpPr txBox="1"/>
          <p:nvPr/>
        </p:nvSpPr>
        <p:spPr>
          <a:xfrm>
            <a:off x="5734475" y="3130804"/>
            <a:ext cx="6750900" cy="13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Java’s standard unit-testing framework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5"/>
          <p:cNvSpPr/>
          <p:nvPr/>
        </p:nvSpPr>
        <p:spPr>
          <a:xfrm>
            <a:off x="8465363" y="5539046"/>
            <a:ext cx="2604988" cy="4352396"/>
          </a:xfrm>
          <a:custGeom>
            <a:rect b="b" l="l" r="r" t="t"/>
            <a:pathLst>
              <a:path extrusionOk="0" h="3254128" w="2047142">
                <a:moveTo>
                  <a:pt x="0" y="0"/>
                </a:moveTo>
                <a:lnTo>
                  <a:pt x="2047142" y="0"/>
                </a:lnTo>
                <a:lnTo>
                  <a:pt x="2047142" y="3254128"/>
                </a:lnTo>
                <a:lnTo>
                  <a:pt x="0" y="32541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3E5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"/>
          <p:cNvSpPr/>
          <p:nvPr/>
        </p:nvSpPr>
        <p:spPr>
          <a:xfrm>
            <a:off x="0" y="0"/>
            <a:ext cx="5143500" cy="5143500"/>
          </a:xfrm>
          <a:custGeom>
            <a:rect b="b" l="l" r="r" t="t"/>
            <a:pathLst>
              <a:path extrusionOk="0"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16"/>
          <p:cNvSpPr txBox="1"/>
          <p:nvPr/>
        </p:nvSpPr>
        <p:spPr>
          <a:xfrm rot="318">
            <a:off x="5866314" y="249525"/>
            <a:ext cx="6487200" cy="13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999" u="sng">
                <a:solidFill>
                  <a:srgbClr val="00896B"/>
                </a:solidFill>
                <a:latin typeface="Calistoga"/>
                <a:ea typeface="Calistoga"/>
                <a:cs typeface="Calistoga"/>
                <a:sym typeface="Calistoga"/>
              </a:rPr>
              <a:t>POSTGRES</a:t>
            </a:r>
            <a:r>
              <a:rPr b="1" lang="en-US" sz="9999" u="sng">
                <a:solidFill>
                  <a:srgbClr val="00896B"/>
                </a:solidFill>
                <a:latin typeface="Calistoga"/>
                <a:ea typeface="Calistoga"/>
                <a:cs typeface="Calistoga"/>
                <a:sym typeface="Calistoga"/>
              </a:rPr>
              <a:t> </a:t>
            </a:r>
            <a:endParaRPr b="1" sz="9999" u="sng">
              <a:solidFill>
                <a:srgbClr val="00896B"/>
              </a:solidFill>
              <a:latin typeface="Calistoga"/>
              <a:ea typeface="Calistoga"/>
              <a:cs typeface="Calistoga"/>
              <a:sym typeface="Calistoga"/>
            </a:endParaRPr>
          </a:p>
        </p:txBody>
      </p:sp>
      <p:sp>
        <p:nvSpPr>
          <p:cNvPr id="190" name="Google Shape;190;p16"/>
          <p:cNvSpPr/>
          <p:nvPr/>
        </p:nvSpPr>
        <p:spPr>
          <a:xfrm>
            <a:off x="13230850" y="0"/>
            <a:ext cx="5053489" cy="5143500"/>
          </a:xfrm>
          <a:custGeom>
            <a:rect b="b" l="l" r="r" t="t"/>
            <a:pathLst>
              <a:path extrusionOk="0"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p16"/>
          <p:cNvSpPr/>
          <p:nvPr/>
        </p:nvSpPr>
        <p:spPr>
          <a:xfrm>
            <a:off x="100" y="5143500"/>
            <a:ext cx="18288000" cy="138600"/>
          </a:xfrm>
          <a:prstGeom prst="rect">
            <a:avLst/>
          </a:prstGeom>
          <a:solidFill>
            <a:srgbClr val="00896B"/>
          </a:solidFill>
          <a:ln cap="flat" cmpd="sng" w="9525">
            <a:solidFill>
              <a:srgbClr val="008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6"/>
          <p:cNvSpPr/>
          <p:nvPr/>
        </p:nvSpPr>
        <p:spPr>
          <a:xfrm>
            <a:off x="5148639" y="0"/>
            <a:ext cx="154500" cy="5282100"/>
          </a:xfrm>
          <a:prstGeom prst="rect">
            <a:avLst/>
          </a:prstGeom>
          <a:solidFill>
            <a:srgbClr val="00896B"/>
          </a:solidFill>
          <a:ln cap="flat" cmpd="sng" w="9525">
            <a:solidFill>
              <a:srgbClr val="008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6"/>
          <p:cNvSpPr/>
          <p:nvPr/>
        </p:nvSpPr>
        <p:spPr>
          <a:xfrm>
            <a:off x="13076341" y="2"/>
            <a:ext cx="154500" cy="5282100"/>
          </a:xfrm>
          <a:prstGeom prst="rect">
            <a:avLst/>
          </a:prstGeom>
          <a:solidFill>
            <a:srgbClr val="00896B"/>
          </a:solidFill>
          <a:ln cap="flat" cmpd="sng" w="9525">
            <a:solidFill>
              <a:srgbClr val="008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6"/>
          <p:cNvSpPr/>
          <p:nvPr/>
        </p:nvSpPr>
        <p:spPr>
          <a:xfrm>
            <a:off x="100" y="5282100"/>
            <a:ext cx="6750844" cy="5002054"/>
          </a:xfrm>
          <a:custGeom>
            <a:rect b="b" l="l" r="r" t="t"/>
            <a:pathLst>
              <a:path extrusionOk="0"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5" name="Google Shape;195;p16"/>
          <p:cNvSpPr/>
          <p:nvPr/>
        </p:nvSpPr>
        <p:spPr>
          <a:xfrm>
            <a:off x="11534125" y="5282100"/>
            <a:ext cx="6750844" cy="5002054"/>
          </a:xfrm>
          <a:custGeom>
            <a:rect b="b" l="l" r="r" t="t"/>
            <a:pathLst>
              <a:path extrusionOk="0"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6" name="Google Shape;196;p16"/>
          <p:cNvSpPr/>
          <p:nvPr/>
        </p:nvSpPr>
        <p:spPr>
          <a:xfrm>
            <a:off x="6750950" y="5282100"/>
            <a:ext cx="4783455" cy="5002054"/>
          </a:xfrm>
          <a:custGeom>
            <a:rect b="b" l="l" r="r" t="t"/>
            <a:pathLst>
              <a:path extrusionOk="0"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p16"/>
          <p:cNvSpPr/>
          <p:nvPr/>
        </p:nvSpPr>
        <p:spPr>
          <a:xfrm>
            <a:off x="1306289" y="977605"/>
            <a:ext cx="2069109" cy="1971297"/>
          </a:xfrm>
          <a:custGeom>
            <a:rect b="b" l="l" r="r" t="t"/>
            <a:pathLst>
              <a:path extrusionOk="0" h="1971297" w="2069109">
                <a:moveTo>
                  <a:pt x="0" y="0"/>
                </a:moveTo>
                <a:lnTo>
                  <a:pt x="2069109" y="0"/>
                </a:lnTo>
                <a:lnTo>
                  <a:pt x="2069109" y="1971296"/>
                </a:lnTo>
                <a:lnTo>
                  <a:pt x="0" y="19712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p16"/>
          <p:cNvSpPr/>
          <p:nvPr/>
        </p:nvSpPr>
        <p:spPr>
          <a:xfrm>
            <a:off x="15242161" y="949591"/>
            <a:ext cx="2069109" cy="1971297"/>
          </a:xfrm>
          <a:custGeom>
            <a:rect b="b" l="l" r="r" t="t"/>
            <a:pathLst>
              <a:path extrusionOk="0" h="1971297" w="2069109">
                <a:moveTo>
                  <a:pt x="0" y="0"/>
                </a:moveTo>
                <a:lnTo>
                  <a:pt x="2069109" y="0"/>
                </a:lnTo>
                <a:lnTo>
                  <a:pt x="2069109" y="1971296"/>
                </a:lnTo>
                <a:lnTo>
                  <a:pt x="0" y="19712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99" name="Google Shape;199;p16" title="postgre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69587" y="1513254"/>
            <a:ext cx="1124060" cy="11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6" title="postgre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714687" y="1457234"/>
            <a:ext cx="1124060" cy="112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6"/>
          <p:cNvSpPr txBox="1"/>
          <p:nvPr/>
        </p:nvSpPr>
        <p:spPr>
          <a:xfrm>
            <a:off x="276450" y="6428750"/>
            <a:ext cx="60372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holds the account &amp; transaction tables w/foreign keys and NUMERIC(12, 2) for money. hosted on a Docker container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6"/>
          <p:cNvSpPr txBox="1"/>
          <p:nvPr/>
        </p:nvSpPr>
        <p:spPr>
          <a:xfrm>
            <a:off x="276450" y="5547637"/>
            <a:ext cx="4590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u="sng">
                <a:solidFill>
                  <a:srgbClr val="00896B"/>
                </a:solidFill>
                <a:latin typeface="Calistoga"/>
                <a:ea typeface="Calistoga"/>
                <a:cs typeface="Calistoga"/>
                <a:sym typeface="Calistoga"/>
              </a:rPr>
              <a:t>how its used:</a:t>
            </a:r>
            <a:endParaRPr sz="4000" u="sng"/>
          </a:p>
        </p:txBody>
      </p:sp>
      <p:sp>
        <p:nvSpPr>
          <p:cNvPr id="203" name="Google Shape;203;p16"/>
          <p:cNvSpPr txBox="1"/>
          <p:nvPr/>
        </p:nvSpPr>
        <p:spPr>
          <a:xfrm>
            <a:off x="13676055" y="5547625"/>
            <a:ext cx="3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u="sng">
                <a:solidFill>
                  <a:srgbClr val="00896B"/>
                </a:solidFill>
                <a:latin typeface="Calistoga"/>
                <a:ea typeface="Calistoga"/>
                <a:cs typeface="Calistoga"/>
                <a:sym typeface="Calistoga"/>
              </a:rPr>
              <a:t>why it fits:</a:t>
            </a:r>
            <a:endParaRPr sz="4000" u="sng"/>
          </a:p>
        </p:txBody>
      </p:sp>
      <p:sp>
        <p:nvSpPr>
          <p:cNvPr id="204" name="Google Shape;204;p16"/>
          <p:cNvSpPr txBox="1"/>
          <p:nvPr/>
        </p:nvSpPr>
        <p:spPr>
          <a:xfrm>
            <a:off x="12219225" y="6428750"/>
            <a:ext cx="58050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ACUD guarantees to keep balances consistent and NUMERIC avoids floating-points rounding errors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6"/>
          <p:cNvSpPr txBox="1"/>
          <p:nvPr/>
        </p:nvSpPr>
        <p:spPr>
          <a:xfrm>
            <a:off x="5734475" y="2213074"/>
            <a:ext cx="6750900" cy="17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open-source relational database w/full ACID transactions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6"/>
          <p:cNvSpPr/>
          <p:nvPr/>
        </p:nvSpPr>
        <p:spPr>
          <a:xfrm>
            <a:off x="7503351" y="6163225"/>
            <a:ext cx="3278367" cy="2883491"/>
          </a:xfrm>
          <a:custGeom>
            <a:rect b="b" l="l" r="r" t="t"/>
            <a:pathLst>
              <a:path extrusionOk="0" h="1881560" w="1974920">
                <a:moveTo>
                  <a:pt x="0" y="0"/>
                </a:moveTo>
                <a:lnTo>
                  <a:pt x="1974919" y="0"/>
                </a:lnTo>
                <a:lnTo>
                  <a:pt x="1974919" y="1881560"/>
                </a:lnTo>
                <a:lnTo>
                  <a:pt x="0" y="18815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3E5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7"/>
          <p:cNvSpPr txBox="1"/>
          <p:nvPr/>
        </p:nvSpPr>
        <p:spPr>
          <a:xfrm rot="318">
            <a:off x="5866314" y="249525"/>
            <a:ext cx="64872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999" u="sng">
                <a:solidFill>
                  <a:srgbClr val="00896B"/>
                </a:solidFill>
                <a:latin typeface="Calistoga"/>
                <a:ea typeface="Calistoga"/>
                <a:cs typeface="Calistoga"/>
                <a:sym typeface="Calistoga"/>
              </a:rPr>
              <a:t>GIT &amp; GITHUB</a:t>
            </a:r>
            <a:r>
              <a:rPr b="1" lang="en-US" sz="9999" u="sng">
                <a:solidFill>
                  <a:srgbClr val="00896B"/>
                </a:solidFill>
                <a:latin typeface="Calistoga"/>
                <a:ea typeface="Calistoga"/>
                <a:cs typeface="Calistoga"/>
                <a:sym typeface="Calistoga"/>
              </a:rPr>
              <a:t> </a:t>
            </a:r>
            <a:endParaRPr b="1" sz="9999" u="sng">
              <a:solidFill>
                <a:srgbClr val="00896B"/>
              </a:solidFill>
              <a:latin typeface="Calistoga"/>
              <a:ea typeface="Calistoga"/>
              <a:cs typeface="Calistoga"/>
              <a:sym typeface="Calistoga"/>
            </a:endParaRPr>
          </a:p>
        </p:txBody>
      </p:sp>
      <p:pic>
        <p:nvPicPr>
          <p:cNvPr id="212" name="Google Shape;212;p17" title="gree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8093" y="0"/>
            <a:ext cx="517159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7" title="gree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29261" y="0"/>
            <a:ext cx="517160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7" title="gree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" y="5282100"/>
            <a:ext cx="6721225" cy="5002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7"/>
          <p:cNvSpPr/>
          <p:nvPr/>
        </p:nvSpPr>
        <p:spPr>
          <a:xfrm>
            <a:off x="100" y="5143500"/>
            <a:ext cx="18288000" cy="138600"/>
          </a:xfrm>
          <a:prstGeom prst="rect">
            <a:avLst/>
          </a:prstGeom>
          <a:solidFill>
            <a:srgbClr val="F1D26C"/>
          </a:solidFill>
          <a:ln cap="flat" cmpd="sng" w="9525">
            <a:solidFill>
              <a:srgbClr val="F1D2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7"/>
          <p:cNvSpPr/>
          <p:nvPr/>
        </p:nvSpPr>
        <p:spPr>
          <a:xfrm>
            <a:off x="5148639" y="0"/>
            <a:ext cx="154500" cy="5282100"/>
          </a:xfrm>
          <a:prstGeom prst="rect">
            <a:avLst/>
          </a:prstGeom>
          <a:solidFill>
            <a:srgbClr val="F1D26C"/>
          </a:solidFill>
          <a:ln cap="flat" cmpd="sng" w="9525">
            <a:solidFill>
              <a:srgbClr val="F1D2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7"/>
          <p:cNvSpPr/>
          <p:nvPr/>
        </p:nvSpPr>
        <p:spPr>
          <a:xfrm>
            <a:off x="13076341" y="2"/>
            <a:ext cx="154500" cy="5282100"/>
          </a:xfrm>
          <a:prstGeom prst="rect">
            <a:avLst/>
          </a:prstGeom>
          <a:solidFill>
            <a:srgbClr val="F1D26C"/>
          </a:solidFill>
          <a:ln cap="flat" cmpd="sng" w="9525">
            <a:solidFill>
              <a:srgbClr val="F1D2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17" title="gree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98807" y="5282100"/>
            <a:ext cx="6721225" cy="500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7" title="gree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1325" y="5282100"/>
            <a:ext cx="4877475" cy="500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7" title="yeloooo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5600" y="594825"/>
            <a:ext cx="3340875" cy="283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7" title="yeloooo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06288" y="549122"/>
            <a:ext cx="3340875" cy="283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7" title="gi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77232" y="1401218"/>
            <a:ext cx="1155475" cy="115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7" title="gi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698994" y="1384024"/>
            <a:ext cx="1155475" cy="115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7"/>
          <p:cNvSpPr txBox="1"/>
          <p:nvPr/>
        </p:nvSpPr>
        <p:spPr>
          <a:xfrm>
            <a:off x="276450" y="6428750"/>
            <a:ext cx="60372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Bank_of_CLI repo holds the source, the tests, a README w/the setup steps and the SQL for the tables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7"/>
          <p:cNvSpPr txBox="1"/>
          <p:nvPr/>
        </p:nvSpPr>
        <p:spPr>
          <a:xfrm>
            <a:off x="276450" y="5547637"/>
            <a:ext cx="4590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u="sng">
                <a:solidFill>
                  <a:srgbClr val="F1D26C"/>
                </a:solidFill>
                <a:latin typeface="Calistoga"/>
                <a:ea typeface="Calistoga"/>
                <a:cs typeface="Calistoga"/>
                <a:sym typeface="Calistoga"/>
              </a:rPr>
              <a:t>how its used:</a:t>
            </a:r>
            <a:endParaRPr sz="4000" u="sng">
              <a:solidFill>
                <a:srgbClr val="F1D26C"/>
              </a:solidFill>
            </a:endParaRPr>
          </a:p>
        </p:txBody>
      </p:sp>
      <p:sp>
        <p:nvSpPr>
          <p:cNvPr id="226" name="Google Shape;226;p17"/>
          <p:cNvSpPr txBox="1"/>
          <p:nvPr/>
        </p:nvSpPr>
        <p:spPr>
          <a:xfrm>
            <a:off x="13676055" y="5547625"/>
            <a:ext cx="3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u="sng">
                <a:solidFill>
                  <a:srgbClr val="F1D26C"/>
                </a:solidFill>
                <a:latin typeface="Calistoga"/>
                <a:ea typeface="Calistoga"/>
                <a:cs typeface="Calistoga"/>
                <a:sym typeface="Calistoga"/>
              </a:rPr>
              <a:t>why it fits:</a:t>
            </a:r>
            <a:endParaRPr sz="4000" u="sng">
              <a:solidFill>
                <a:srgbClr val="F1D26C"/>
              </a:solidFill>
            </a:endParaRPr>
          </a:p>
        </p:txBody>
      </p:sp>
      <p:sp>
        <p:nvSpPr>
          <p:cNvPr id="227" name="Google Shape;227;p17"/>
          <p:cNvSpPr txBox="1"/>
          <p:nvPr/>
        </p:nvSpPr>
        <p:spPr>
          <a:xfrm>
            <a:off x="12219225" y="6428750"/>
            <a:ext cx="58050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fully history, safe backups and a super easy way to share the project to anyone!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7"/>
          <p:cNvSpPr txBox="1"/>
          <p:nvPr/>
        </p:nvSpPr>
        <p:spPr>
          <a:xfrm>
            <a:off x="5734475" y="3238505"/>
            <a:ext cx="6750900" cy="16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 tracks EVERY change in code while GitHub hosts the repo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"/>
          <p:cNvSpPr/>
          <p:nvPr/>
        </p:nvSpPr>
        <p:spPr>
          <a:xfrm>
            <a:off x="7631999" y="6163226"/>
            <a:ext cx="3056122" cy="2772510"/>
          </a:xfrm>
          <a:custGeom>
            <a:rect b="b" l="l" r="r" t="t"/>
            <a:pathLst>
              <a:path extrusionOk="0" h="2061346" w="2163626">
                <a:moveTo>
                  <a:pt x="0" y="0"/>
                </a:moveTo>
                <a:lnTo>
                  <a:pt x="2163626" y="0"/>
                </a:lnTo>
                <a:lnTo>
                  <a:pt x="2163626" y="2061345"/>
                </a:lnTo>
                <a:lnTo>
                  <a:pt x="0" y="20613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3E5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18"/>
          <p:cNvPicPr preferRelativeResize="0"/>
          <p:nvPr/>
        </p:nvPicPr>
        <p:blipFill rotWithShape="1">
          <a:blip r:embed="rId3">
            <a:alphaModFix/>
          </a:blip>
          <a:srcRect b="21260" l="0" r="0" t="0"/>
          <a:stretch/>
        </p:blipFill>
        <p:spPr>
          <a:xfrm>
            <a:off x="0" y="881550"/>
            <a:ext cx="18288000" cy="939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8"/>
          <p:cNvSpPr/>
          <p:nvPr/>
        </p:nvSpPr>
        <p:spPr>
          <a:xfrm>
            <a:off x="1943100" y="3810000"/>
            <a:ext cx="4838700" cy="4762500"/>
          </a:xfrm>
          <a:prstGeom prst="ellipse">
            <a:avLst/>
          </a:prstGeom>
          <a:solidFill>
            <a:srgbClr val="FFB1C3"/>
          </a:solidFill>
          <a:ln cap="flat" cmpd="sng" w="9525">
            <a:solidFill>
              <a:srgbClr val="FFB1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6724650" y="3810000"/>
            <a:ext cx="4838700" cy="4762500"/>
          </a:xfrm>
          <a:prstGeom prst="ellipse">
            <a:avLst/>
          </a:prstGeom>
          <a:solidFill>
            <a:srgbClr val="FFB1C3"/>
          </a:solidFill>
          <a:ln cap="flat" cmpd="sng" w="9525">
            <a:solidFill>
              <a:srgbClr val="FFB1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/>
          <p:nvPr/>
        </p:nvSpPr>
        <p:spPr>
          <a:xfrm>
            <a:off x="38100" y="4343400"/>
            <a:ext cx="9639300" cy="5934300"/>
          </a:xfrm>
          <a:prstGeom prst="rect">
            <a:avLst/>
          </a:prstGeom>
          <a:solidFill>
            <a:srgbClr val="FFB1C3"/>
          </a:solidFill>
          <a:ln cap="flat" cmpd="sng" w="9525">
            <a:solidFill>
              <a:srgbClr val="FFB1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8"/>
          <p:cNvSpPr/>
          <p:nvPr/>
        </p:nvSpPr>
        <p:spPr>
          <a:xfrm>
            <a:off x="5524500" y="3162300"/>
            <a:ext cx="2971800" cy="1295400"/>
          </a:xfrm>
          <a:prstGeom prst="ellipse">
            <a:avLst/>
          </a:prstGeom>
          <a:solidFill>
            <a:srgbClr val="F9F3E5"/>
          </a:solidFill>
          <a:ln cap="flat" cmpd="sng" w="9525">
            <a:solidFill>
              <a:srgbClr val="F9F3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/>
          <p:nvPr/>
        </p:nvSpPr>
        <p:spPr>
          <a:xfrm rot="2037350">
            <a:off x="35395" y="4282772"/>
            <a:ext cx="2529210" cy="1171705"/>
          </a:xfrm>
          <a:prstGeom prst="ellipse">
            <a:avLst/>
          </a:prstGeom>
          <a:solidFill>
            <a:srgbClr val="FFB1C3"/>
          </a:solidFill>
          <a:ln cap="flat" cmpd="sng" w="9525">
            <a:solidFill>
              <a:srgbClr val="FFB1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738825" y="3162300"/>
            <a:ext cx="2971800" cy="1295400"/>
          </a:xfrm>
          <a:prstGeom prst="ellipse">
            <a:avLst/>
          </a:prstGeom>
          <a:solidFill>
            <a:srgbClr val="F9F3E5"/>
          </a:solidFill>
          <a:ln cap="flat" cmpd="sng" w="9525">
            <a:solidFill>
              <a:srgbClr val="F9F3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8"/>
          <p:cNvSpPr/>
          <p:nvPr/>
        </p:nvSpPr>
        <p:spPr>
          <a:xfrm rot="1382392">
            <a:off x="4210003" y="2781247"/>
            <a:ext cx="2971857" cy="1295527"/>
          </a:xfrm>
          <a:prstGeom prst="ellipse">
            <a:avLst/>
          </a:prstGeom>
          <a:solidFill>
            <a:srgbClr val="F9F3E5"/>
          </a:solidFill>
          <a:ln cap="flat" cmpd="sng" w="9525">
            <a:solidFill>
              <a:srgbClr val="F9F3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/>
          <p:nvPr/>
        </p:nvSpPr>
        <p:spPr>
          <a:xfrm>
            <a:off x="5829300" y="3048000"/>
            <a:ext cx="2971800" cy="1295400"/>
          </a:xfrm>
          <a:prstGeom prst="ellipse">
            <a:avLst/>
          </a:prstGeom>
          <a:solidFill>
            <a:srgbClr val="F9F3E5"/>
          </a:solidFill>
          <a:ln cap="flat" cmpd="sng" w="9525">
            <a:solidFill>
              <a:srgbClr val="F9F3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/>
          <p:nvPr/>
        </p:nvSpPr>
        <p:spPr>
          <a:xfrm>
            <a:off x="723900" y="685800"/>
            <a:ext cx="4838700" cy="3015900"/>
          </a:xfrm>
          <a:prstGeom prst="roundRect">
            <a:avLst>
              <a:gd fmla="val 16667" name="adj"/>
            </a:avLst>
          </a:prstGeom>
          <a:solidFill>
            <a:srgbClr val="F9F3E5"/>
          </a:solidFill>
          <a:ln cap="flat" cmpd="sng" w="9525">
            <a:solidFill>
              <a:srgbClr val="F9F3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1943100" y="3652050"/>
            <a:ext cx="4838700" cy="4762500"/>
          </a:xfrm>
          <a:prstGeom prst="ellipse">
            <a:avLst/>
          </a:prstGeom>
          <a:solidFill>
            <a:srgbClr val="FFB1C3"/>
          </a:solidFill>
          <a:ln cap="flat" cmpd="sng" w="9525">
            <a:solidFill>
              <a:srgbClr val="FFB1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7523100" y="3652050"/>
            <a:ext cx="3640200" cy="4762500"/>
          </a:xfrm>
          <a:prstGeom prst="ellipse">
            <a:avLst/>
          </a:prstGeom>
          <a:solidFill>
            <a:srgbClr val="FFB1C3"/>
          </a:solidFill>
          <a:ln cap="flat" cmpd="sng" w="9525">
            <a:solidFill>
              <a:srgbClr val="FFB1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8"/>
          <p:cNvSpPr/>
          <p:nvPr/>
        </p:nvSpPr>
        <p:spPr>
          <a:xfrm rot="1399221">
            <a:off x="134658" y="3050111"/>
            <a:ext cx="2057485" cy="1104867"/>
          </a:xfrm>
          <a:prstGeom prst="ellipse">
            <a:avLst/>
          </a:prstGeom>
          <a:solidFill>
            <a:srgbClr val="F9F3E5"/>
          </a:solidFill>
          <a:ln cap="flat" cmpd="sng" w="9525">
            <a:solidFill>
              <a:srgbClr val="F9F3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 txBox="1"/>
          <p:nvPr/>
        </p:nvSpPr>
        <p:spPr>
          <a:xfrm>
            <a:off x="1616525" y="130150"/>
            <a:ext cx="14249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u="sng">
                <a:solidFill>
                  <a:srgbClr val="00896B"/>
                </a:solidFill>
                <a:latin typeface="Calistoga"/>
                <a:ea typeface="Calistoga"/>
                <a:cs typeface="Calistoga"/>
                <a:sym typeface="Calistoga"/>
              </a:rPr>
              <a:t>multi-layered architecture</a:t>
            </a:r>
            <a:endParaRPr sz="7000" u="sng"/>
          </a:p>
        </p:txBody>
      </p:sp>
      <p:sp>
        <p:nvSpPr>
          <p:cNvPr id="248" name="Google Shape;248;p18"/>
          <p:cNvSpPr/>
          <p:nvPr/>
        </p:nvSpPr>
        <p:spPr>
          <a:xfrm>
            <a:off x="8291724" y="2403485"/>
            <a:ext cx="1529700" cy="60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896B"/>
          </a:solidFill>
          <a:ln cap="flat" cmpd="sng" w="9525">
            <a:solidFill>
              <a:srgbClr val="008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15119925" y="1495350"/>
            <a:ext cx="2678400" cy="2341800"/>
          </a:xfrm>
          <a:prstGeom prst="ellipse">
            <a:avLst/>
          </a:prstGeom>
          <a:solidFill>
            <a:srgbClr val="F1D26C"/>
          </a:solidFill>
          <a:ln cap="flat" cmpd="sng" w="103600">
            <a:solidFill>
              <a:srgbClr val="F1D2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8600" lIns="248600" spcFirstLastPara="1" rIns="248600" wrap="square" tIns="24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4"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sz="2134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/>
          <p:nvPr/>
        </p:nvSpPr>
        <p:spPr>
          <a:xfrm>
            <a:off x="3438842" y="2403485"/>
            <a:ext cx="1529700" cy="60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896B"/>
          </a:solidFill>
          <a:ln cap="flat" cmpd="sng" w="9525">
            <a:solidFill>
              <a:srgbClr val="008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/>
          <p:nvPr/>
        </p:nvSpPr>
        <p:spPr>
          <a:xfrm>
            <a:off x="13285542" y="2403485"/>
            <a:ext cx="1529700" cy="60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896B"/>
          </a:solidFill>
          <a:ln cap="flat" cmpd="sng" w="9525">
            <a:solidFill>
              <a:srgbClr val="008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8"/>
          <p:cNvSpPr/>
          <p:nvPr/>
        </p:nvSpPr>
        <p:spPr>
          <a:xfrm>
            <a:off x="5476397" y="1494846"/>
            <a:ext cx="2340600" cy="2341800"/>
          </a:xfrm>
          <a:prstGeom prst="ellipse">
            <a:avLst/>
          </a:prstGeom>
          <a:solidFill>
            <a:srgbClr val="F1D26C"/>
          </a:solidFill>
          <a:ln cap="flat" cmpd="sng" w="103600">
            <a:solidFill>
              <a:srgbClr val="F1D2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8600" lIns="248600" spcFirstLastPara="1" rIns="248600" wrap="square" tIns="248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25">
                <a:latin typeface="Calibri"/>
                <a:ea typeface="Calibri"/>
                <a:cs typeface="Calibri"/>
                <a:sym typeface="Calibri"/>
              </a:rPr>
              <a:t>Service layer</a:t>
            </a:r>
            <a:endParaRPr sz="2725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308175" y="4897600"/>
            <a:ext cx="3833100" cy="4762500"/>
          </a:xfrm>
          <a:prstGeom prst="roundRect">
            <a:avLst>
              <a:gd fmla="val 16667" name="adj"/>
            </a:avLst>
          </a:prstGeom>
          <a:solidFill>
            <a:srgbClr val="00896B"/>
          </a:solidFill>
          <a:ln cap="flat" cmpd="sng" w="9525">
            <a:solidFill>
              <a:srgbClr val="008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4968550" y="4903400"/>
            <a:ext cx="3833100" cy="4762500"/>
          </a:xfrm>
          <a:prstGeom prst="roundRect">
            <a:avLst>
              <a:gd fmla="val 16667" name="adj"/>
            </a:avLst>
          </a:prstGeom>
          <a:solidFill>
            <a:srgbClr val="00896B"/>
          </a:solidFill>
          <a:ln cap="flat" cmpd="sng" w="9525">
            <a:solidFill>
              <a:srgbClr val="008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9628925" y="4929300"/>
            <a:ext cx="3833100" cy="4762500"/>
          </a:xfrm>
          <a:prstGeom prst="roundRect">
            <a:avLst>
              <a:gd fmla="val 16667" name="adj"/>
            </a:avLst>
          </a:prstGeom>
          <a:solidFill>
            <a:srgbClr val="00896B"/>
          </a:solidFill>
          <a:ln cap="flat" cmpd="sng" w="9525">
            <a:solidFill>
              <a:srgbClr val="008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8"/>
          <p:cNvSpPr/>
          <p:nvPr/>
        </p:nvSpPr>
        <p:spPr>
          <a:xfrm>
            <a:off x="14114475" y="4903400"/>
            <a:ext cx="3833100" cy="4762500"/>
          </a:xfrm>
          <a:prstGeom prst="roundRect">
            <a:avLst>
              <a:gd fmla="val 16667" name="adj"/>
            </a:avLst>
          </a:prstGeom>
          <a:solidFill>
            <a:srgbClr val="00896B"/>
          </a:solidFill>
          <a:ln cap="flat" cmpd="sng" w="9525">
            <a:solidFill>
              <a:srgbClr val="008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8"/>
          <p:cNvSpPr txBox="1"/>
          <p:nvPr/>
        </p:nvSpPr>
        <p:spPr>
          <a:xfrm>
            <a:off x="462650" y="5306775"/>
            <a:ext cx="3429000" cy="38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9F3E5"/>
                </a:solidFill>
                <a:latin typeface="Calibri"/>
                <a:ea typeface="Calibri"/>
                <a:cs typeface="Calibri"/>
                <a:sym typeface="Calibri"/>
              </a:rPr>
              <a:t>terminal menu: </a:t>
            </a:r>
            <a:endParaRPr sz="3000">
              <a:solidFill>
                <a:srgbClr val="F9F3E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9F3E5"/>
                </a:solidFill>
                <a:latin typeface="Calibri"/>
                <a:ea typeface="Calibri"/>
                <a:cs typeface="Calibri"/>
                <a:sym typeface="Calibri"/>
              </a:rPr>
              <a:t>register, login, balance, deposit, withdraw, transfer &amp; history it reads user input (aka Scanner) and prints results</a:t>
            </a:r>
            <a:endParaRPr sz="3000">
              <a:solidFill>
                <a:srgbClr val="F9F3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8"/>
          <p:cNvSpPr txBox="1"/>
          <p:nvPr/>
        </p:nvSpPr>
        <p:spPr>
          <a:xfrm>
            <a:off x="5070657" y="5271825"/>
            <a:ext cx="3640200" cy="38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9F3E5"/>
                </a:solidFill>
                <a:latin typeface="Calibri"/>
                <a:ea typeface="Calibri"/>
                <a:cs typeface="Calibri"/>
                <a:sym typeface="Calibri"/>
              </a:rPr>
              <a:t>validate business rules:</a:t>
            </a:r>
            <a:endParaRPr sz="3000">
              <a:solidFill>
                <a:srgbClr val="F9F3E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9F3E5"/>
                </a:solidFill>
                <a:latin typeface="Calibri"/>
                <a:ea typeface="Calibri"/>
                <a:cs typeface="Calibri"/>
                <a:sym typeface="Calibri"/>
              </a:rPr>
              <a:t>amount ALWAYS </a:t>
            </a:r>
            <a:r>
              <a:rPr lang="en-US" sz="3000">
                <a:solidFill>
                  <a:srgbClr val="F9F3E5"/>
                </a:solidFill>
                <a:latin typeface="Calibri"/>
                <a:ea typeface="Calibri"/>
                <a:cs typeface="Calibri"/>
                <a:sym typeface="Calibri"/>
              </a:rPr>
              <a:t>positive, no transferring to yourself and checks pin to login</a:t>
            </a:r>
            <a:endParaRPr sz="3000">
              <a:solidFill>
                <a:srgbClr val="F9F3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8"/>
          <p:cNvSpPr txBox="1"/>
          <p:nvPr/>
        </p:nvSpPr>
        <p:spPr>
          <a:xfrm>
            <a:off x="9844818" y="5284871"/>
            <a:ext cx="3429000" cy="38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9F3E5"/>
                </a:solidFill>
                <a:latin typeface="Calibri"/>
                <a:ea typeface="Calibri"/>
                <a:cs typeface="Calibri"/>
                <a:sym typeface="Calibri"/>
              </a:rPr>
              <a:t>runs on SQL, manages transactions/rollbacks for atomicty, converts ResultSet rows into account/transaction obejcts</a:t>
            </a:r>
            <a:endParaRPr sz="3000">
              <a:solidFill>
                <a:srgbClr val="F9F3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8"/>
          <p:cNvSpPr txBox="1"/>
          <p:nvPr/>
        </p:nvSpPr>
        <p:spPr>
          <a:xfrm>
            <a:off x="14289293" y="5271821"/>
            <a:ext cx="3429000" cy="38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9F3E5"/>
                </a:solidFill>
                <a:latin typeface="Calibri"/>
                <a:ea typeface="Calibri"/>
                <a:cs typeface="Calibri"/>
                <a:sym typeface="Calibri"/>
              </a:rPr>
              <a:t>stores account/transaction tables, enforces balance &gt;= 0 at the database level via a CHECK constraint</a:t>
            </a:r>
            <a:endParaRPr sz="3000">
              <a:solidFill>
                <a:srgbClr val="F9F3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8"/>
          <p:cNvSpPr/>
          <p:nvPr/>
        </p:nvSpPr>
        <p:spPr>
          <a:xfrm>
            <a:off x="422650" y="1392504"/>
            <a:ext cx="2677487" cy="2386008"/>
          </a:xfrm>
          <a:custGeom>
            <a:rect b="b" l="l" r="r" t="t"/>
            <a:pathLst>
              <a:path extrusionOk="0" h="2061346" w="2163626">
                <a:moveTo>
                  <a:pt x="0" y="0"/>
                </a:moveTo>
                <a:lnTo>
                  <a:pt x="2163626" y="0"/>
                </a:lnTo>
                <a:lnTo>
                  <a:pt x="2163626" y="2061345"/>
                </a:lnTo>
                <a:lnTo>
                  <a:pt x="0" y="20613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2" name="Google Shape;262;p18"/>
          <p:cNvSpPr/>
          <p:nvPr/>
        </p:nvSpPr>
        <p:spPr>
          <a:xfrm>
            <a:off x="10214750" y="1513629"/>
            <a:ext cx="2677487" cy="2386008"/>
          </a:xfrm>
          <a:custGeom>
            <a:rect b="b" l="l" r="r" t="t"/>
            <a:pathLst>
              <a:path extrusionOk="0" h="2061346" w="2163626">
                <a:moveTo>
                  <a:pt x="0" y="0"/>
                </a:moveTo>
                <a:lnTo>
                  <a:pt x="2163626" y="0"/>
                </a:lnTo>
                <a:lnTo>
                  <a:pt x="2163626" y="2061345"/>
                </a:lnTo>
                <a:lnTo>
                  <a:pt x="0" y="20613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18"/>
          <p:cNvSpPr txBox="1"/>
          <p:nvPr/>
        </p:nvSpPr>
        <p:spPr>
          <a:xfrm>
            <a:off x="1020525" y="2245171"/>
            <a:ext cx="15297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 layer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8"/>
          <p:cNvSpPr txBox="1"/>
          <p:nvPr/>
        </p:nvSpPr>
        <p:spPr>
          <a:xfrm>
            <a:off x="10618563" y="2221825"/>
            <a:ext cx="1935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Persistence</a:t>
            </a: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layer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>
        <p14:flip dir="l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B1C3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9"/>
          <p:cNvSpPr/>
          <p:nvPr/>
        </p:nvSpPr>
        <p:spPr>
          <a:xfrm>
            <a:off x="6334533" y="424075"/>
            <a:ext cx="5327824" cy="9510713"/>
          </a:xfrm>
          <a:custGeom>
            <a:rect b="b" l="l" r="r" t="t"/>
            <a:pathLst>
              <a:path extrusionOk="0" h="8725425" w="4854509">
                <a:moveTo>
                  <a:pt x="0" y="0"/>
                </a:moveTo>
                <a:lnTo>
                  <a:pt x="4854509" y="0"/>
                </a:lnTo>
                <a:lnTo>
                  <a:pt x="4854509" y="8725426"/>
                </a:lnTo>
                <a:lnTo>
                  <a:pt x="0" y="87254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0" name="Google Shape;270;p19"/>
          <p:cNvSpPr/>
          <p:nvPr/>
        </p:nvSpPr>
        <p:spPr>
          <a:xfrm>
            <a:off x="6838133" y="1192700"/>
            <a:ext cx="4320300" cy="8216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1" name="Google Shape;271;p19" title="Screenshot 2026-09-23 at 10.26.03 PM.png"/>
          <p:cNvPicPr preferRelativeResize="0"/>
          <p:nvPr/>
        </p:nvPicPr>
        <p:blipFill rotWithShape="1">
          <a:blip r:embed="rId4">
            <a:alphaModFix/>
          </a:blip>
          <a:srcRect b="0" l="0" r="0" t="12618"/>
          <a:stretch/>
        </p:blipFill>
        <p:spPr>
          <a:xfrm>
            <a:off x="6997171" y="1254108"/>
            <a:ext cx="3896125" cy="8216399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9"/>
          <p:cNvSpPr/>
          <p:nvPr/>
        </p:nvSpPr>
        <p:spPr>
          <a:xfrm>
            <a:off x="236250" y="424075"/>
            <a:ext cx="3901055" cy="3219831"/>
          </a:xfrm>
          <a:custGeom>
            <a:rect b="b" l="l" r="r" t="t"/>
            <a:pathLst>
              <a:path extrusionOk="0" h="4114800" w="4084874">
                <a:moveTo>
                  <a:pt x="0" y="0"/>
                </a:moveTo>
                <a:lnTo>
                  <a:pt x="4084874" y="0"/>
                </a:lnTo>
                <a:lnTo>
                  <a:pt x="40848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19"/>
          <p:cNvSpPr/>
          <p:nvPr/>
        </p:nvSpPr>
        <p:spPr>
          <a:xfrm rot="10800000">
            <a:off x="13359881" y="6021034"/>
            <a:ext cx="4769090" cy="3785616"/>
          </a:xfrm>
          <a:custGeom>
            <a:rect b="b" l="l" r="r" t="t"/>
            <a:pathLst>
              <a:path extrusionOk="0" h="4114800" w="4084874">
                <a:moveTo>
                  <a:pt x="0" y="0"/>
                </a:moveTo>
                <a:lnTo>
                  <a:pt x="4084874" y="0"/>
                </a:lnTo>
                <a:lnTo>
                  <a:pt x="40848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B1C3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0"/>
          <p:cNvSpPr/>
          <p:nvPr/>
        </p:nvSpPr>
        <p:spPr>
          <a:xfrm rot="-5400000">
            <a:off x="-103963" y="6058126"/>
            <a:ext cx="4294383" cy="4114800"/>
          </a:xfrm>
          <a:custGeom>
            <a:rect b="b" l="l" r="r" t="t"/>
            <a:pathLst>
              <a:path extrusionOk="0" h="4114800" w="4294383">
                <a:moveTo>
                  <a:pt x="0" y="0"/>
                </a:moveTo>
                <a:lnTo>
                  <a:pt x="4294384" y="0"/>
                </a:lnTo>
                <a:lnTo>
                  <a:pt x="42943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9" name="Google Shape;279;p20"/>
          <p:cNvSpPr txBox="1"/>
          <p:nvPr/>
        </p:nvSpPr>
        <p:spPr>
          <a:xfrm>
            <a:off x="9171238" y="1150033"/>
            <a:ext cx="4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u="sng">
                <a:solidFill>
                  <a:srgbClr val="00896B"/>
                </a:solidFill>
                <a:latin typeface="Calistoga"/>
                <a:ea typeface="Calistoga"/>
                <a:cs typeface="Calistoga"/>
                <a:sym typeface="Calistoga"/>
              </a:rPr>
              <a:t>abstraction:</a:t>
            </a:r>
            <a:endParaRPr sz="3600" u="sng"/>
          </a:p>
        </p:txBody>
      </p:sp>
      <p:sp>
        <p:nvSpPr>
          <p:cNvPr id="280" name="Google Shape;280;p20"/>
          <p:cNvSpPr/>
          <p:nvPr/>
        </p:nvSpPr>
        <p:spPr>
          <a:xfrm flipH="1">
            <a:off x="13993668" y="-6"/>
            <a:ext cx="4294383" cy="4114800"/>
          </a:xfrm>
          <a:custGeom>
            <a:rect b="b" l="l" r="r" t="t"/>
            <a:pathLst>
              <a:path extrusionOk="0" h="4114800" w="4294383">
                <a:moveTo>
                  <a:pt x="4294383" y="0"/>
                </a:moveTo>
                <a:lnTo>
                  <a:pt x="0" y="0"/>
                </a:lnTo>
                <a:lnTo>
                  <a:pt x="0" y="4114800"/>
                </a:lnTo>
                <a:lnTo>
                  <a:pt x="4294383" y="4114800"/>
                </a:lnTo>
                <a:lnTo>
                  <a:pt x="4294383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1" name="Google Shape;281;p20"/>
          <p:cNvSpPr/>
          <p:nvPr/>
        </p:nvSpPr>
        <p:spPr>
          <a:xfrm rot="-5400000">
            <a:off x="-2010966" y="7990085"/>
            <a:ext cx="4294500" cy="300900"/>
          </a:xfrm>
          <a:prstGeom prst="roundRect">
            <a:avLst>
              <a:gd fmla="val 16667" name="adj"/>
            </a:avLst>
          </a:prstGeom>
          <a:solidFill>
            <a:srgbClr val="F1D26C"/>
          </a:solidFill>
          <a:ln cap="flat" cmpd="sng" w="9525">
            <a:solidFill>
              <a:srgbClr val="F1D2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0"/>
          <p:cNvSpPr/>
          <p:nvPr/>
        </p:nvSpPr>
        <p:spPr>
          <a:xfrm>
            <a:off x="13993613" y="0"/>
            <a:ext cx="4294500" cy="300900"/>
          </a:xfrm>
          <a:prstGeom prst="roundRect">
            <a:avLst>
              <a:gd fmla="val 16667" name="adj"/>
            </a:avLst>
          </a:prstGeom>
          <a:solidFill>
            <a:srgbClr val="F1D26C"/>
          </a:solidFill>
          <a:ln cap="flat" cmpd="sng" w="9525">
            <a:solidFill>
              <a:srgbClr val="F1D2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0"/>
          <p:cNvSpPr/>
          <p:nvPr/>
        </p:nvSpPr>
        <p:spPr>
          <a:xfrm rot="-5400000">
            <a:off x="1681340" y="7854335"/>
            <a:ext cx="752100" cy="4114800"/>
          </a:xfrm>
          <a:prstGeom prst="rect">
            <a:avLst/>
          </a:prstGeom>
          <a:solidFill>
            <a:srgbClr val="F1D26C"/>
          </a:solidFill>
          <a:ln cap="flat" cmpd="sng" w="9525">
            <a:solidFill>
              <a:srgbClr val="F1D2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0"/>
          <p:cNvSpPr/>
          <p:nvPr/>
        </p:nvSpPr>
        <p:spPr>
          <a:xfrm>
            <a:off x="17560975" y="-50125"/>
            <a:ext cx="752100" cy="4114800"/>
          </a:xfrm>
          <a:prstGeom prst="rect">
            <a:avLst/>
          </a:prstGeom>
          <a:solidFill>
            <a:srgbClr val="F1D26C"/>
          </a:solidFill>
          <a:ln cap="flat" cmpd="sng" w="9525">
            <a:solidFill>
              <a:srgbClr val="F1D2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0"/>
          <p:cNvSpPr/>
          <p:nvPr/>
        </p:nvSpPr>
        <p:spPr>
          <a:xfrm rot="-5400000">
            <a:off x="3115853" y="-1951661"/>
            <a:ext cx="2912289" cy="8614944"/>
          </a:xfrm>
          <a:custGeom>
            <a:rect b="b" l="l" r="r" t="t"/>
            <a:pathLst>
              <a:path extrusionOk="0" h="3449427" w="1919136">
                <a:moveTo>
                  <a:pt x="0" y="0"/>
                </a:moveTo>
                <a:lnTo>
                  <a:pt x="1919136" y="0"/>
                </a:lnTo>
                <a:lnTo>
                  <a:pt x="1919136" y="3449426"/>
                </a:lnTo>
                <a:lnTo>
                  <a:pt x="0" y="34494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6" name="Google Shape;286;p20"/>
          <p:cNvSpPr/>
          <p:nvPr/>
        </p:nvSpPr>
        <p:spPr>
          <a:xfrm>
            <a:off x="896475" y="1064550"/>
            <a:ext cx="7620000" cy="2364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7" name="Google Shape;287;p20" title="Screenshot 2026-09-23 at 8.07.51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9835" y="1381876"/>
            <a:ext cx="7353300" cy="1924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8" name="Google Shape;288;p20"/>
          <p:cNvGrpSpPr/>
          <p:nvPr/>
        </p:nvGrpSpPr>
        <p:grpSpPr>
          <a:xfrm>
            <a:off x="12168796" y="3326114"/>
            <a:ext cx="5790842" cy="3792638"/>
            <a:chOff x="0" y="0"/>
            <a:chExt cx="2296131" cy="2091567"/>
          </a:xfrm>
        </p:grpSpPr>
        <p:sp>
          <p:nvSpPr>
            <p:cNvPr id="289" name="Google Shape;289;p20"/>
            <p:cNvSpPr/>
            <p:nvPr/>
          </p:nvSpPr>
          <p:spPr>
            <a:xfrm>
              <a:off x="0" y="0"/>
              <a:ext cx="2296131" cy="2091567"/>
            </a:xfrm>
            <a:custGeom>
              <a:rect b="b" l="l" r="r" t="t"/>
              <a:pathLst>
                <a:path extrusionOk="0" h="2091567" w="2296131">
                  <a:moveTo>
                    <a:pt x="0" y="0"/>
                  </a:moveTo>
                  <a:lnTo>
                    <a:pt x="2296131" y="0"/>
                  </a:lnTo>
                  <a:lnTo>
                    <a:pt x="2296131" y="2091567"/>
                  </a:lnTo>
                  <a:lnTo>
                    <a:pt x="0" y="20915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290" name="Google Shape;290;p20"/>
            <p:cNvGrpSpPr/>
            <p:nvPr/>
          </p:nvGrpSpPr>
          <p:grpSpPr>
            <a:xfrm>
              <a:off x="182858" y="434020"/>
              <a:ext cx="1930375" cy="1280659"/>
              <a:chOff x="0" y="0"/>
              <a:chExt cx="2211704" cy="1467300"/>
            </a:xfrm>
          </p:grpSpPr>
          <p:sp>
            <p:nvSpPr>
              <p:cNvPr id="291" name="Google Shape;291;p20"/>
              <p:cNvSpPr/>
              <p:nvPr/>
            </p:nvSpPr>
            <p:spPr>
              <a:xfrm>
                <a:off x="0" y="0"/>
                <a:ext cx="2211704" cy="1467258"/>
              </a:xfrm>
              <a:custGeom>
                <a:rect b="b" l="l" r="r" t="t"/>
                <a:pathLst>
                  <a:path extrusionOk="0" h="1467258" w="2211704">
                    <a:moveTo>
                      <a:pt x="0" y="0"/>
                    </a:moveTo>
                    <a:lnTo>
                      <a:pt x="2211704" y="0"/>
                    </a:lnTo>
                    <a:lnTo>
                      <a:pt x="2211704" y="1467258"/>
                    </a:lnTo>
                    <a:lnTo>
                      <a:pt x="0" y="1467258"/>
                    </a:lnTo>
                    <a:close/>
                  </a:path>
                </a:pathLst>
              </a:custGeom>
              <a:solidFill>
                <a:srgbClr val="FFB1C3"/>
              </a:solidFill>
              <a:ln>
                <a:noFill/>
              </a:ln>
            </p:spPr>
          </p:sp>
          <p:sp>
            <p:nvSpPr>
              <p:cNvPr id="292" name="Google Shape;292;p20"/>
              <p:cNvSpPr txBox="1"/>
              <p:nvPr/>
            </p:nvSpPr>
            <p:spPr>
              <a:xfrm>
                <a:off x="0" y="38100"/>
                <a:ext cx="2211600" cy="1429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157125" lIns="157125" spcFirstLastPara="1" rIns="157125" wrap="square" tIns="157125">
                <a:noAutofit/>
              </a:bodyPr>
              <a:lstStyle/>
              <a:p>
                <a:pPr indent="0" lvl="0" marL="0" marR="0" rtl="0" algn="ctr">
                  <a:lnSpc>
                    <a:spcPct val="111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5567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93" name="Google Shape;293;p20"/>
          <p:cNvSpPr txBox="1"/>
          <p:nvPr/>
        </p:nvSpPr>
        <p:spPr>
          <a:xfrm>
            <a:off x="9079725" y="1685481"/>
            <a:ext cx="8880000" cy="14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896B"/>
                </a:solidFill>
                <a:latin typeface="Calibri"/>
                <a:ea typeface="Calibri"/>
                <a:cs typeface="Calibri"/>
                <a:sym typeface="Calibri"/>
              </a:rPr>
              <a:t>callers depend on what a class does, not how it does it. BankServiceImpl calls this interface, but it never sees SQL/Connection objects</a:t>
            </a:r>
            <a:endParaRPr sz="2800">
              <a:solidFill>
                <a:srgbClr val="0089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4" name="Google Shape;294;p20" title="Screenshot 2026-09-23 at 8.18.50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643721" y="4099944"/>
            <a:ext cx="4897800" cy="57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0" title="Screenshot 2026-09-23 at 8.19.04 P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643721" y="4878664"/>
            <a:ext cx="4897800" cy="115617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0"/>
          <p:cNvSpPr txBox="1"/>
          <p:nvPr/>
        </p:nvSpPr>
        <p:spPr>
          <a:xfrm>
            <a:off x="1574900" y="4409125"/>
            <a:ext cx="10312200" cy="23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896B"/>
                </a:solidFill>
                <a:latin typeface="Calibri"/>
                <a:ea typeface="Calibri"/>
                <a:cs typeface="Calibri"/>
                <a:sym typeface="Calibri"/>
              </a:rPr>
              <a:t>interal state is private, only controlled access is exposed. Nothing outside Account can directly overwrite balance, but changes only happen through DAO methods, backed by the database’s CHECK constraint</a:t>
            </a:r>
            <a:endParaRPr sz="2800">
              <a:solidFill>
                <a:srgbClr val="0089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0"/>
          <p:cNvSpPr txBox="1"/>
          <p:nvPr/>
        </p:nvSpPr>
        <p:spPr>
          <a:xfrm>
            <a:off x="7420678" y="3855031"/>
            <a:ext cx="4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u="sng">
                <a:solidFill>
                  <a:srgbClr val="00896B"/>
                </a:solidFill>
                <a:latin typeface="Calistoga"/>
                <a:ea typeface="Calistoga"/>
                <a:cs typeface="Calistoga"/>
                <a:sym typeface="Calistoga"/>
              </a:rPr>
              <a:t>encapsulation:</a:t>
            </a:r>
            <a:endParaRPr sz="3600" u="sng"/>
          </a:p>
        </p:txBody>
      </p:sp>
      <p:sp>
        <p:nvSpPr>
          <p:cNvPr id="298" name="Google Shape;298;p20"/>
          <p:cNvSpPr/>
          <p:nvPr/>
        </p:nvSpPr>
        <p:spPr>
          <a:xfrm rot="5400000">
            <a:off x="3115853" y="4027011"/>
            <a:ext cx="2912289" cy="8614944"/>
          </a:xfrm>
          <a:custGeom>
            <a:rect b="b" l="l" r="r" t="t"/>
            <a:pathLst>
              <a:path extrusionOk="0" h="3449427" w="1919136">
                <a:moveTo>
                  <a:pt x="0" y="0"/>
                </a:moveTo>
                <a:lnTo>
                  <a:pt x="1919136" y="0"/>
                </a:lnTo>
                <a:lnTo>
                  <a:pt x="1919136" y="3449426"/>
                </a:lnTo>
                <a:lnTo>
                  <a:pt x="0" y="34494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9" name="Google Shape;299;p20"/>
          <p:cNvSpPr/>
          <p:nvPr/>
        </p:nvSpPr>
        <p:spPr>
          <a:xfrm>
            <a:off x="665578" y="7182488"/>
            <a:ext cx="7620000" cy="2304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p20" title="Screenshot 2026-09-23 at 8.31.48 PM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0681" y="7580250"/>
            <a:ext cx="7620001" cy="14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0"/>
          <p:cNvSpPr txBox="1"/>
          <p:nvPr/>
        </p:nvSpPr>
        <p:spPr>
          <a:xfrm>
            <a:off x="9171238" y="7471771"/>
            <a:ext cx="4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u="sng">
                <a:solidFill>
                  <a:srgbClr val="00896B"/>
                </a:solidFill>
                <a:latin typeface="Calistoga"/>
                <a:ea typeface="Calistoga"/>
                <a:cs typeface="Calistoga"/>
                <a:sym typeface="Calistoga"/>
              </a:rPr>
              <a:t>inheritance</a:t>
            </a:r>
            <a:r>
              <a:rPr lang="en-US" sz="3600" u="sng">
                <a:solidFill>
                  <a:srgbClr val="00896B"/>
                </a:solidFill>
                <a:latin typeface="Calistoga"/>
                <a:ea typeface="Calistoga"/>
                <a:cs typeface="Calistoga"/>
                <a:sym typeface="Calistoga"/>
              </a:rPr>
              <a:t>:</a:t>
            </a:r>
            <a:endParaRPr sz="3600" u="sng"/>
          </a:p>
        </p:txBody>
      </p:sp>
      <p:sp>
        <p:nvSpPr>
          <p:cNvPr id="302" name="Google Shape;302;p20"/>
          <p:cNvSpPr txBox="1"/>
          <p:nvPr/>
        </p:nvSpPr>
        <p:spPr>
          <a:xfrm>
            <a:off x="9079728" y="7986250"/>
            <a:ext cx="8880000" cy="19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896B"/>
                </a:solidFill>
                <a:latin typeface="Calibri"/>
                <a:ea typeface="Calibri"/>
                <a:cs typeface="Calibri"/>
                <a:sym typeface="Calibri"/>
              </a:rPr>
              <a:t>a specialized </a:t>
            </a:r>
            <a:r>
              <a:rPr lang="en-US" sz="2800">
                <a:solidFill>
                  <a:srgbClr val="00896B"/>
                </a:solidFill>
                <a:latin typeface="Calibri"/>
                <a:ea typeface="Calibri"/>
                <a:cs typeface="Calibri"/>
                <a:sym typeface="Calibri"/>
              </a:rPr>
              <a:t>class</a:t>
            </a:r>
            <a:r>
              <a:rPr lang="en-US" sz="2800">
                <a:solidFill>
                  <a:srgbClr val="00896B"/>
                </a:solidFill>
                <a:latin typeface="Calibri"/>
                <a:ea typeface="Calibri"/>
                <a:cs typeface="Calibri"/>
                <a:sym typeface="Calibri"/>
              </a:rPr>
              <a:t> extends a general one. this custom exception exetnds RuntimeException to </a:t>
            </a:r>
            <a:r>
              <a:rPr lang="en-US" sz="2800">
                <a:solidFill>
                  <a:srgbClr val="00896B"/>
                </a:solidFill>
                <a:latin typeface="Calibri"/>
                <a:ea typeface="Calibri"/>
                <a:cs typeface="Calibri"/>
                <a:sym typeface="Calibri"/>
              </a:rPr>
              <a:t>signal</a:t>
            </a:r>
            <a:r>
              <a:rPr lang="en-US" sz="2800">
                <a:solidFill>
                  <a:srgbClr val="00896B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US" sz="2800">
                <a:solidFill>
                  <a:srgbClr val="00896B"/>
                </a:solidFill>
                <a:latin typeface="Calibri"/>
                <a:ea typeface="Calibri"/>
                <a:cs typeface="Calibri"/>
                <a:sym typeface="Calibri"/>
              </a:rPr>
              <a:t>specific</a:t>
            </a:r>
            <a:r>
              <a:rPr lang="en-US" sz="2800">
                <a:solidFill>
                  <a:srgbClr val="00896B"/>
                </a:solidFill>
                <a:latin typeface="Calibri"/>
                <a:ea typeface="Calibri"/>
                <a:cs typeface="Calibri"/>
                <a:sym typeface="Calibri"/>
              </a:rPr>
              <a:t> business failure (overdraft) distinct from a gernal error</a:t>
            </a:r>
            <a:endParaRPr sz="2800">
              <a:solidFill>
                <a:srgbClr val="0089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0"/>
          <p:cNvSpPr txBox="1"/>
          <p:nvPr/>
        </p:nvSpPr>
        <p:spPr>
          <a:xfrm>
            <a:off x="8966625" y="289925"/>
            <a:ext cx="9106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u="sng">
                <a:solidFill>
                  <a:srgbClr val="00896B"/>
                </a:solidFill>
                <a:latin typeface="Calistoga"/>
                <a:ea typeface="Calistoga"/>
                <a:cs typeface="Calistoga"/>
                <a:sym typeface="Calistoga"/>
              </a:rPr>
              <a:t>object oriented design </a:t>
            </a:r>
            <a:endParaRPr sz="5000" u="sng"/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B1C3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1"/>
          <p:cNvSpPr/>
          <p:nvPr/>
        </p:nvSpPr>
        <p:spPr>
          <a:xfrm rot="10800000">
            <a:off x="13968559" y="6172203"/>
            <a:ext cx="4294383" cy="4114800"/>
          </a:xfrm>
          <a:custGeom>
            <a:rect b="b" l="l" r="r" t="t"/>
            <a:pathLst>
              <a:path extrusionOk="0" h="4114800" w="4294383">
                <a:moveTo>
                  <a:pt x="0" y="0"/>
                </a:moveTo>
                <a:lnTo>
                  <a:pt x="4294384" y="0"/>
                </a:lnTo>
                <a:lnTo>
                  <a:pt x="42943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9" name="Google Shape;309;p21"/>
          <p:cNvSpPr txBox="1"/>
          <p:nvPr/>
        </p:nvSpPr>
        <p:spPr>
          <a:xfrm>
            <a:off x="6527588" y="4236546"/>
            <a:ext cx="4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u="sng">
                <a:solidFill>
                  <a:srgbClr val="00896B"/>
                </a:solidFill>
                <a:latin typeface="Calistoga"/>
                <a:ea typeface="Calistoga"/>
                <a:cs typeface="Calistoga"/>
                <a:sym typeface="Calistoga"/>
              </a:rPr>
              <a:t>singleton pattern</a:t>
            </a:r>
            <a:r>
              <a:rPr lang="en-US" sz="3600" u="sng">
                <a:solidFill>
                  <a:srgbClr val="00896B"/>
                </a:solidFill>
                <a:latin typeface="Calistoga"/>
                <a:ea typeface="Calistoga"/>
                <a:cs typeface="Calistoga"/>
                <a:sym typeface="Calistoga"/>
              </a:rPr>
              <a:t>:</a:t>
            </a:r>
            <a:endParaRPr sz="3600" u="sng"/>
          </a:p>
        </p:txBody>
      </p:sp>
      <p:sp>
        <p:nvSpPr>
          <p:cNvPr id="310" name="Google Shape;310;p21"/>
          <p:cNvSpPr/>
          <p:nvPr/>
        </p:nvSpPr>
        <p:spPr>
          <a:xfrm flipH="1" rot="-5400000">
            <a:off x="-89788" y="114794"/>
            <a:ext cx="4294383" cy="4114800"/>
          </a:xfrm>
          <a:custGeom>
            <a:rect b="b" l="l" r="r" t="t"/>
            <a:pathLst>
              <a:path extrusionOk="0" h="4114800" w="4294383">
                <a:moveTo>
                  <a:pt x="4294383" y="0"/>
                </a:moveTo>
                <a:lnTo>
                  <a:pt x="0" y="0"/>
                </a:lnTo>
                <a:lnTo>
                  <a:pt x="0" y="4114800"/>
                </a:lnTo>
                <a:lnTo>
                  <a:pt x="4294383" y="4114800"/>
                </a:lnTo>
                <a:lnTo>
                  <a:pt x="4294383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1" name="Google Shape;311;p21"/>
          <p:cNvSpPr/>
          <p:nvPr/>
        </p:nvSpPr>
        <p:spPr>
          <a:xfrm rot="10800000">
            <a:off x="13993509" y="9986097"/>
            <a:ext cx="4294500" cy="300900"/>
          </a:xfrm>
          <a:prstGeom prst="roundRect">
            <a:avLst>
              <a:gd fmla="val 16667" name="adj"/>
            </a:avLst>
          </a:prstGeom>
          <a:solidFill>
            <a:srgbClr val="F1D26C"/>
          </a:solidFill>
          <a:ln cap="flat" cmpd="sng" w="9525">
            <a:solidFill>
              <a:srgbClr val="F1D2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1"/>
          <p:cNvSpPr/>
          <p:nvPr/>
        </p:nvSpPr>
        <p:spPr>
          <a:xfrm rot="-5400000">
            <a:off x="-1977392" y="2021753"/>
            <a:ext cx="4294500" cy="300900"/>
          </a:xfrm>
          <a:prstGeom prst="roundRect">
            <a:avLst>
              <a:gd fmla="val 16667" name="adj"/>
            </a:avLst>
          </a:prstGeom>
          <a:solidFill>
            <a:srgbClr val="F1D26C"/>
          </a:solidFill>
          <a:ln cap="flat" cmpd="sng" w="9525">
            <a:solidFill>
              <a:srgbClr val="F1D2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1"/>
          <p:cNvSpPr/>
          <p:nvPr/>
        </p:nvSpPr>
        <p:spPr>
          <a:xfrm rot="10800000">
            <a:off x="17535909" y="6158041"/>
            <a:ext cx="752100" cy="4114800"/>
          </a:xfrm>
          <a:prstGeom prst="rect">
            <a:avLst/>
          </a:prstGeom>
          <a:solidFill>
            <a:srgbClr val="F1D26C"/>
          </a:solidFill>
          <a:ln cap="flat" cmpd="sng" w="9525">
            <a:solidFill>
              <a:srgbClr val="F1D2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1"/>
          <p:cNvSpPr/>
          <p:nvPr/>
        </p:nvSpPr>
        <p:spPr>
          <a:xfrm rot="-5400000">
            <a:off x="1681359" y="-1681359"/>
            <a:ext cx="752100" cy="4114800"/>
          </a:xfrm>
          <a:prstGeom prst="rect">
            <a:avLst/>
          </a:prstGeom>
          <a:solidFill>
            <a:srgbClr val="F1D26C"/>
          </a:solidFill>
          <a:ln cap="flat" cmpd="sng" w="9525">
            <a:solidFill>
              <a:srgbClr val="F1D2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1"/>
          <p:cNvSpPr/>
          <p:nvPr/>
        </p:nvSpPr>
        <p:spPr>
          <a:xfrm rot="-5400000">
            <a:off x="12287203" y="3985976"/>
            <a:ext cx="2912289" cy="8614944"/>
          </a:xfrm>
          <a:custGeom>
            <a:rect b="b" l="l" r="r" t="t"/>
            <a:pathLst>
              <a:path extrusionOk="0" h="3449427" w="1919136">
                <a:moveTo>
                  <a:pt x="0" y="0"/>
                </a:moveTo>
                <a:lnTo>
                  <a:pt x="1919136" y="0"/>
                </a:lnTo>
                <a:lnTo>
                  <a:pt x="1919136" y="3449426"/>
                </a:lnTo>
                <a:lnTo>
                  <a:pt x="0" y="34494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6" name="Google Shape;316;p21"/>
          <p:cNvSpPr/>
          <p:nvPr/>
        </p:nvSpPr>
        <p:spPr>
          <a:xfrm>
            <a:off x="10067825" y="7002188"/>
            <a:ext cx="7620000" cy="2364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7" name="Google Shape;317;p21"/>
          <p:cNvGrpSpPr/>
          <p:nvPr/>
        </p:nvGrpSpPr>
        <p:grpSpPr>
          <a:xfrm>
            <a:off x="320308" y="3589477"/>
            <a:ext cx="5790842" cy="3792638"/>
            <a:chOff x="0" y="0"/>
            <a:chExt cx="2296131" cy="2091567"/>
          </a:xfrm>
        </p:grpSpPr>
        <p:sp>
          <p:nvSpPr>
            <p:cNvPr id="318" name="Google Shape;318;p21"/>
            <p:cNvSpPr/>
            <p:nvPr/>
          </p:nvSpPr>
          <p:spPr>
            <a:xfrm>
              <a:off x="0" y="0"/>
              <a:ext cx="2296131" cy="2091567"/>
            </a:xfrm>
            <a:custGeom>
              <a:rect b="b" l="l" r="r" t="t"/>
              <a:pathLst>
                <a:path extrusionOk="0" h="2091567" w="2296131">
                  <a:moveTo>
                    <a:pt x="0" y="0"/>
                  </a:moveTo>
                  <a:lnTo>
                    <a:pt x="2296131" y="0"/>
                  </a:lnTo>
                  <a:lnTo>
                    <a:pt x="2296131" y="2091567"/>
                  </a:lnTo>
                  <a:lnTo>
                    <a:pt x="0" y="20915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319" name="Google Shape;319;p21"/>
            <p:cNvGrpSpPr/>
            <p:nvPr/>
          </p:nvGrpSpPr>
          <p:grpSpPr>
            <a:xfrm>
              <a:off x="182858" y="434020"/>
              <a:ext cx="1930375" cy="1280659"/>
              <a:chOff x="0" y="0"/>
              <a:chExt cx="2211704" cy="1467300"/>
            </a:xfrm>
          </p:grpSpPr>
          <p:sp>
            <p:nvSpPr>
              <p:cNvPr id="320" name="Google Shape;320;p21"/>
              <p:cNvSpPr/>
              <p:nvPr/>
            </p:nvSpPr>
            <p:spPr>
              <a:xfrm>
                <a:off x="0" y="0"/>
                <a:ext cx="2211704" cy="1467258"/>
              </a:xfrm>
              <a:custGeom>
                <a:rect b="b" l="l" r="r" t="t"/>
                <a:pathLst>
                  <a:path extrusionOk="0" h="1467258" w="2211704">
                    <a:moveTo>
                      <a:pt x="0" y="0"/>
                    </a:moveTo>
                    <a:lnTo>
                      <a:pt x="2211704" y="0"/>
                    </a:lnTo>
                    <a:lnTo>
                      <a:pt x="2211704" y="1467258"/>
                    </a:lnTo>
                    <a:lnTo>
                      <a:pt x="0" y="1467258"/>
                    </a:lnTo>
                    <a:close/>
                  </a:path>
                </a:pathLst>
              </a:custGeom>
              <a:solidFill>
                <a:srgbClr val="FFB1C3"/>
              </a:solidFill>
              <a:ln>
                <a:noFill/>
              </a:ln>
            </p:spPr>
          </p:sp>
          <p:sp>
            <p:nvSpPr>
              <p:cNvPr id="321" name="Google Shape;321;p21"/>
              <p:cNvSpPr txBox="1"/>
              <p:nvPr/>
            </p:nvSpPr>
            <p:spPr>
              <a:xfrm>
                <a:off x="0" y="38100"/>
                <a:ext cx="2211600" cy="1429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157125" lIns="157125" spcFirstLastPara="1" rIns="157125" wrap="square" tIns="157125">
                <a:noAutofit/>
              </a:bodyPr>
              <a:lstStyle/>
              <a:p>
                <a:pPr indent="0" lvl="0" marL="0" marR="0" rtl="0" algn="ctr">
                  <a:lnSpc>
                    <a:spcPct val="111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5567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22" name="Google Shape;322;p21"/>
          <p:cNvSpPr txBox="1"/>
          <p:nvPr/>
        </p:nvSpPr>
        <p:spPr>
          <a:xfrm>
            <a:off x="6436075" y="4772000"/>
            <a:ext cx="11020800" cy="14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896B"/>
                </a:solidFill>
                <a:latin typeface="Calibri"/>
                <a:ea typeface="Calibri"/>
                <a:cs typeface="Calibri"/>
                <a:sym typeface="Calibri"/>
              </a:rPr>
              <a:t>exactly one </a:t>
            </a:r>
            <a:r>
              <a:rPr lang="en-US" sz="2800">
                <a:solidFill>
                  <a:srgbClr val="00896B"/>
                </a:solidFill>
                <a:latin typeface="Calibri"/>
                <a:ea typeface="Calibri"/>
                <a:cs typeface="Calibri"/>
                <a:sym typeface="Calibri"/>
              </a:rPr>
              <a:t>instance</a:t>
            </a:r>
            <a:r>
              <a:rPr lang="en-US" sz="2800">
                <a:solidFill>
                  <a:srgbClr val="00896B"/>
                </a:solidFill>
                <a:latin typeface="Calibri"/>
                <a:ea typeface="Calibri"/>
                <a:cs typeface="Calibri"/>
                <a:sym typeface="Calibri"/>
              </a:rPr>
              <a:t> exists, shared everywhere its needed. One ConnectionFactory instance manages the database connection config for the entire thing, never re instantiated per call</a:t>
            </a:r>
            <a:endParaRPr sz="2800">
              <a:solidFill>
                <a:srgbClr val="0089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1"/>
          <p:cNvSpPr txBox="1"/>
          <p:nvPr/>
        </p:nvSpPr>
        <p:spPr>
          <a:xfrm>
            <a:off x="438088" y="1188175"/>
            <a:ext cx="8880000" cy="23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896B"/>
                </a:solidFill>
                <a:latin typeface="Calibri"/>
                <a:ea typeface="Calibri"/>
                <a:cs typeface="Calibri"/>
                <a:sym typeface="Calibri"/>
              </a:rPr>
              <a:t>code only works w/the interface type, the real implementation is swapped in at runtime. this variable’s declared type is the interface, NOT the concrete class. A different implementation could be subsuited w/out changing the line </a:t>
            </a:r>
            <a:endParaRPr sz="2800">
              <a:solidFill>
                <a:srgbClr val="0089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>
            <a:off x="4740878" y="607469"/>
            <a:ext cx="4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u="sng">
                <a:solidFill>
                  <a:srgbClr val="00896B"/>
                </a:solidFill>
                <a:latin typeface="Calistoga"/>
                <a:ea typeface="Calistoga"/>
                <a:cs typeface="Calistoga"/>
                <a:sym typeface="Calistoga"/>
              </a:rPr>
              <a:t>polymorphism:</a:t>
            </a:r>
            <a:endParaRPr sz="3600" u="sng"/>
          </a:p>
        </p:txBody>
      </p:sp>
      <p:sp>
        <p:nvSpPr>
          <p:cNvPr id="325" name="Google Shape;325;p21"/>
          <p:cNvSpPr/>
          <p:nvPr/>
        </p:nvSpPr>
        <p:spPr>
          <a:xfrm rot="5400000">
            <a:off x="12287203" y="-2270239"/>
            <a:ext cx="2912289" cy="8614944"/>
          </a:xfrm>
          <a:custGeom>
            <a:rect b="b" l="l" r="r" t="t"/>
            <a:pathLst>
              <a:path extrusionOk="0" h="3449427" w="1919136">
                <a:moveTo>
                  <a:pt x="0" y="0"/>
                </a:moveTo>
                <a:lnTo>
                  <a:pt x="1919136" y="0"/>
                </a:lnTo>
                <a:lnTo>
                  <a:pt x="1919136" y="3449426"/>
                </a:lnTo>
                <a:lnTo>
                  <a:pt x="0" y="34494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6" name="Google Shape;326;p21"/>
          <p:cNvSpPr/>
          <p:nvPr/>
        </p:nvSpPr>
        <p:spPr>
          <a:xfrm>
            <a:off x="9836928" y="885238"/>
            <a:ext cx="7620000" cy="2304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1"/>
          <p:cNvSpPr txBox="1"/>
          <p:nvPr/>
        </p:nvSpPr>
        <p:spPr>
          <a:xfrm>
            <a:off x="193300" y="207675"/>
            <a:ext cx="5235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u="sng">
                <a:solidFill>
                  <a:srgbClr val="00896B"/>
                </a:solidFill>
                <a:latin typeface="Calistoga"/>
                <a:ea typeface="Calistoga"/>
                <a:cs typeface="Calistoga"/>
                <a:sym typeface="Calistoga"/>
              </a:rPr>
              <a:t>continued….</a:t>
            </a:r>
            <a:endParaRPr sz="5000" u="sng"/>
          </a:p>
        </p:txBody>
      </p:sp>
      <p:sp>
        <p:nvSpPr>
          <p:cNvPr id="328" name="Google Shape;328;p21"/>
          <p:cNvSpPr txBox="1"/>
          <p:nvPr/>
        </p:nvSpPr>
        <p:spPr>
          <a:xfrm>
            <a:off x="876299" y="7625475"/>
            <a:ext cx="8365500" cy="23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896B"/>
                </a:solidFill>
                <a:latin typeface="Calibri"/>
                <a:ea typeface="Calibri"/>
                <a:cs typeface="Calibri"/>
                <a:sym typeface="Calibri"/>
              </a:rPr>
              <a:t>a class is built from other objects, rather than </a:t>
            </a:r>
            <a:r>
              <a:rPr lang="en-US" sz="2800">
                <a:solidFill>
                  <a:srgbClr val="00896B"/>
                </a:solidFill>
                <a:latin typeface="Calibri"/>
                <a:ea typeface="Calibri"/>
                <a:cs typeface="Calibri"/>
                <a:sym typeface="Calibri"/>
              </a:rPr>
              <a:t>inheriting</a:t>
            </a:r>
            <a:r>
              <a:rPr lang="en-US" sz="2800">
                <a:solidFill>
                  <a:srgbClr val="00896B"/>
                </a:solidFill>
                <a:latin typeface="Calibri"/>
                <a:ea typeface="Calibri"/>
                <a:cs typeface="Calibri"/>
                <a:sym typeface="Calibri"/>
              </a:rPr>
              <a:t> from them. BankServiceImpl has a AccountDAO, which are objects are combined (service holds a DAO, REPL holds a service) rather than extended through a class hierarchy</a:t>
            </a:r>
            <a:endParaRPr sz="2800">
              <a:solidFill>
                <a:srgbClr val="0089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4740878" y="7038419"/>
            <a:ext cx="4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u="sng">
                <a:solidFill>
                  <a:srgbClr val="00896B"/>
                </a:solidFill>
                <a:latin typeface="Calistoga"/>
                <a:ea typeface="Calistoga"/>
                <a:cs typeface="Calistoga"/>
                <a:sym typeface="Calistoga"/>
              </a:rPr>
              <a:t>composition</a:t>
            </a:r>
            <a:r>
              <a:rPr lang="en-US" sz="3600" u="sng">
                <a:solidFill>
                  <a:srgbClr val="00896B"/>
                </a:solidFill>
                <a:latin typeface="Calistoga"/>
                <a:ea typeface="Calistoga"/>
                <a:cs typeface="Calistoga"/>
                <a:sym typeface="Calistoga"/>
              </a:rPr>
              <a:t>:</a:t>
            </a:r>
            <a:endParaRPr sz="3600" u="sng"/>
          </a:p>
        </p:txBody>
      </p:sp>
      <p:pic>
        <p:nvPicPr>
          <p:cNvPr id="330" name="Google Shape;330;p21" title="Screenshot 2026-09-23 at 8.52.50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36925" y="1370063"/>
            <a:ext cx="7619999" cy="133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1" title="Screenshot 2026-09-23 at 8.57.53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76300" y="4710175"/>
            <a:ext cx="4552950" cy="169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1"/>
          <p:cNvSpPr/>
          <p:nvPr/>
        </p:nvSpPr>
        <p:spPr>
          <a:xfrm>
            <a:off x="730250" y="4349750"/>
            <a:ext cx="4921200" cy="30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3" name="Google Shape;333;p21" title="Screenshot 2026-09-23 at 9.00.59 P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191750" y="7517325"/>
            <a:ext cx="7442875" cy="14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r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3E5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8" name="Google Shape;338;p22"/>
          <p:cNvGrpSpPr/>
          <p:nvPr/>
        </p:nvGrpSpPr>
        <p:grpSpPr>
          <a:xfrm>
            <a:off x="7789331" y="3960350"/>
            <a:ext cx="10319067" cy="1371609"/>
            <a:chOff x="0" y="0"/>
            <a:chExt cx="2733600" cy="478179"/>
          </a:xfrm>
        </p:grpSpPr>
        <p:sp>
          <p:nvSpPr>
            <p:cNvPr id="339" name="Google Shape;339;p22"/>
            <p:cNvSpPr/>
            <p:nvPr/>
          </p:nvSpPr>
          <p:spPr>
            <a:xfrm>
              <a:off x="0" y="0"/>
              <a:ext cx="2733497" cy="478179"/>
            </a:xfrm>
            <a:custGeom>
              <a:rect b="b" l="l" r="r" t="t"/>
              <a:pathLst>
                <a:path extrusionOk="0" h="478179" w="2733497">
                  <a:moveTo>
                    <a:pt x="83564" y="0"/>
                  </a:moveTo>
                  <a:lnTo>
                    <a:pt x="2649932" y="0"/>
                  </a:lnTo>
                  <a:cubicBezTo>
                    <a:pt x="2672095" y="0"/>
                    <a:pt x="2693350" y="8804"/>
                    <a:pt x="2709021" y="24475"/>
                  </a:cubicBezTo>
                  <a:cubicBezTo>
                    <a:pt x="2724692" y="40147"/>
                    <a:pt x="2733497" y="61402"/>
                    <a:pt x="2733497" y="83564"/>
                  </a:cubicBezTo>
                  <a:lnTo>
                    <a:pt x="2733497" y="394615"/>
                  </a:lnTo>
                  <a:cubicBezTo>
                    <a:pt x="2733497" y="416778"/>
                    <a:pt x="2724692" y="438033"/>
                    <a:pt x="2709021" y="453704"/>
                  </a:cubicBezTo>
                  <a:cubicBezTo>
                    <a:pt x="2693350" y="469375"/>
                    <a:pt x="2672095" y="478179"/>
                    <a:pt x="2649932" y="478179"/>
                  </a:cubicBezTo>
                  <a:lnTo>
                    <a:pt x="83564" y="478179"/>
                  </a:lnTo>
                  <a:cubicBezTo>
                    <a:pt x="61402" y="478179"/>
                    <a:pt x="40147" y="469375"/>
                    <a:pt x="24475" y="453704"/>
                  </a:cubicBezTo>
                  <a:cubicBezTo>
                    <a:pt x="8804" y="438033"/>
                    <a:pt x="0" y="416778"/>
                    <a:pt x="0" y="394615"/>
                  </a:cubicBezTo>
                  <a:lnTo>
                    <a:pt x="0" y="83564"/>
                  </a:lnTo>
                  <a:cubicBezTo>
                    <a:pt x="0" y="61402"/>
                    <a:pt x="8804" y="40147"/>
                    <a:pt x="24475" y="24475"/>
                  </a:cubicBezTo>
                  <a:cubicBezTo>
                    <a:pt x="40147" y="8804"/>
                    <a:pt x="61402" y="0"/>
                    <a:pt x="83564" y="0"/>
                  </a:cubicBezTo>
                  <a:close/>
                </a:path>
              </a:pathLst>
            </a:custGeom>
            <a:solidFill>
              <a:srgbClr val="00896B"/>
            </a:solidFill>
            <a:ln cap="rnd" cmpd="sng" w="636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1825" lIns="101825" spcFirstLastPara="1" rIns="101825" wrap="square" tIns="101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2"/>
            <p:cNvSpPr txBox="1"/>
            <p:nvPr/>
          </p:nvSpPr>
          <p:spPr>
            <a:xfrm>
              <a:off x="0" y="9525"/>
              <a:ext cx="2733600" cy="46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725" lIns="68725" spcFirstLastPara="1" rIns="68725" wrap="square" tIns="68725">
              <a:noAutofit/>
            </a:bodyPr>
            <a:lstStyle/>
            <a:p>
              <a:pPr indent="0" lvl="0" marL="0" marR="0" rtl="0" algn="ctr">
                <a:lnSpc>
                  <a:spcPct val="6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1" name="Google Shape;341;p22"/>
          <p:cNvGrpSpPr/>
          <p:nvPr/>
        </p:nvGrpSpPr>
        <p:grpSpPr>
          <a:xfrm>
            <a:off x="2025996" y="1910300"/>
            <a:ext cx="3841455" cy="1231506"/>
            <a:chOff x="0" y="0"/>
            <a:chExt cx="812800" cy="260570"/>
          </a:xfrm>
        </p:grpSpPr>
        <p:sp>
          <p:nvSpPr>
            <p:cNvPr id="342" name="Google Shape;342;p22"/>
            <p:cNvSpPr/>
            <p:nvPr/>
          </p:nvSpPr>
          <p:spPr>
            <a:xfrm>
              <a:off x="0" y="0"/>
              <a:ext cx="812800" cy="260570"/>
            </a:xfrm>
            <a:custGeom>
              <a:rect b="b" l="l" r="r" t="t"/>
              <a:pathLst>
                <a:path extrusionOk="0" h="260570" w="812800">
                  <a:moveTo>
                    <a:pt x="130285" y="0"/>
                  </a:moveTo>
                  <a:lnTo>
                    <a:pt x="682515" y="0"/>
                  </a:lnTo>
                  <a:cubicBezTo>
                    <a:pt x="754470" y="0"/>
                    <a:pt x="812800" y="58330"/>
                    <a:pt x="812800" y="130285"/>
                  </a:cubicBezTo>
                  <a:lnTo>
                    <a:pt x="812800" y="130285"/>
                  </a:lnTo>
                  <a:cubicBezTo>
                    <a:pt x="812800" y="202239"/>
                    <a:pt x="754470" y="260570"/>
                    <a:pt x="682515" y="260570"/>
                  </a:cubicBezTo>
                  <a:lnTo>
                    <a:pt x="130285" y="260570"/>
                  </a:lnTo>
                  <a:cubicBezTo>
                    <a:pt x="58330" y="260570"/>
                    <a:pt x="0" y="202239"/>
                    <a:pt x="0" y="130285"/>
                  </a:cubicBezTo>
                  <a:lnTo>
                    <a:pt x="0" y="130285"/>
                  </a:lnTo>
                  <a:cubicBezTo>
                    <a:pt x="0" y="58330"/>
                    <a:pt x="58330" y="0"/>
                    <a:pt x="130285" y="0"/>
                  </a:cubicBezTo>
                  <a:close/>
                </a:path>
              </a:pathLst>
            </a:custGeom>
            <a:solidFill>
              <a:srgbClr val="FFB1C3"/>
            </a:solidFill>
            <a:ln>
              <a:noFill/>
            </a:ln>
          </p:spPr>
          <p:txBody>
            <a:bodyPr anchorCtr="0" anchor="ctr" bIns="113800" lIns="113800" spcFirstLastPara="1" rIns="113800" wrap="square" tIns="11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2"/>
            <p:cNvSpPr txBox="1"/>
            <p:nvPr/>
          </p:nvSpPr>
          <p:spPr>
            <a:xfrm>
              <a:off x="0" y="38100"/>
              <a:ext cx="812800" cy="2224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225" lIns="63225" spcFirstLastPara="1" rIns="63225" wrap="square" tIns="63225">
              <a:noAutofit/>
            </a:bodyPr>
            <a:lstStyle/>
            <a:p>
              <a:pPr indent="0" lvl="0" marL="0" marR="0" rtl="0" algn="ctr">
                <a:lnSpc>
                  <a:spcPct val="149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4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4" name="Google Shape;344;p22"/>
          <p:cNvSpPr txBox="1"/>
          <p:nvPr/>
        </p:nvSpPr>
        <p:spPr>
          <a:xfrm>
            <a:off x="0" y="190500"/>
            <a:ext cx="89535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u="sng">
                <a:solidFill>
                  <a:srgbClr val="00896B"/>
                </a:solidFill>
                <a:latin typeface="Calistoga"/>
                <a:ea typeface="Calistoga"/>
                <a:cs typeface="Calistoga"/>
                <a:sym typeface="Calistoga"/>
              </a:rPr>
              <a:t>logging &amp; testing:</a:t>
            </a:r>
            <a:endParaRPr u="sng"/>
          </a:p>
        </p:txBody>
      </p:sp>
      <p:sp>
        <p:nvSpPr>
          <p:cNvPr id="345" name="Google Shape;345;p22"/>
          <p:cNvSpPr txBox="1"/>
          <p:nvPr/>
        </p:nvSpPr>
        <p:spPr>
          <a:xfrm>
            <a:off x="2232227" y="2257672"/>
            <a:ext cx="342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DM Sans"/>
                <a:ea typeface="DM Sans"/>
                <a:cs typeface="DM Sans"/>
                <a:sym typeface="DM Sans"/>
              </a:rPr>
              <a:t>SLF4J + logback</a:t>
            </a:r>
            <a:endParaRPr sz="3200"/>
          </a:p>
        </p:txBody>
      </p:sp>
      <p:pic>
        <p:nvPicPr>
          <p:cNvPr id="346" name="Google Shape;346;p22" title="piiiiink.PNG"/>
          <p:cNvPicPr preferRelativeResize="0"/>
          <p:nvPr/>
        </p:nvPicPr>
        <p:blipFill rotWithShape="1">
          <a:blip r:embed="rId3">
            <a:alphaModFix/>
          </a:blip>
          <a:srcRect b="11453" l="17238" r="15689" t="7035"/>
          <a:stretch/>
        </p:blipFill>
        <p:spPr>
          <a:xfrm>
            <a:off x="0" y="2904925"/>
            <a:ext cx="8242300" cy="759092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2"/>
          <p:cNvSpPr txBox="1"/>
          <p:nvPr/>
        </p:nvSpPr>
        <p:spPr>
          <a:xfrm>
            <a:off x="1524000" y="5365750"/>
            <a:ext cx="5016600" cy="3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SLF4J (simple logging facade for java) is the interface the code calls. 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Logback is the implementation that formats and writes it to the bank.log 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8" name="Google Shape;348;p22" title="Screenshot 2026-09-23 at 9.43.3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53500" y="372650"/>
            <a:ext cx="9093201" cy="3056349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2"/>
          <p:cNvSpPr txBox="1"/>
          <p:nvPr/>
        </p:nvSpPr>
        <p:spPr>
          <a:xfrm>
            <a:off x="7871064" y="3998444"/>
            <a:ext cx="10155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F9F3E5"/>
                </a:solidFill>
                <a:latin typeface="Calibri"/>
                <a:ea typeface="Calibri"/>
                <a:cs typeface="Calibri"/>
                <a:sym typeface="Calibri"/>
              </a:rPr>
              <a:t>this snippet shows how i had a real failure caught during testing. The database container was running but the problem was, i was in the </a:t>
            </a:r>
            <a:r>
              <a:rPr lang="en-US" sz="2700">
                <a:solidFill>
                  <a:srgbClr val="F9F3E5"/>
                </a:solidFill>
                <a:latin typeface="Calibri"/>
                <a:ea typeface="Calibri"/>
                <a:cs typeface="Calibri"/>
                <a:sym typeface="Calibri"/>
              </a:rPr>
              <a:t>wrong</a:t>
            </a:r>
            <a:r>
              <a:rPr lang="en-US" sz="2700">
                <a:solidFill>
                  <a:srgbClr val="F9F3E5"/>
                </a:solidFill>
                <a:latin typeface="Calibri"/>
                <a:ea typeface="Calibri"/>
                <a:cs typeface="Calibri"/>
                <a:sym typeface="Calibri"/>
              </a:rPr>
              <a:t> directory. so instead of crashing, i </a:t>
            </a:r>
            <a:r>
              <a:rPr lang="en-US" sz="2700">
                <a:solidFill>
                  <a:srgbClr val="F9F3E5"/>
                </a:solidFill>
                <a:latin typeface="Calibri"/>
                <a:ea typeface="Calibri"/>
                <a:cs typeface="Calibri"/>
                <a:sym typeface="Calibri"/>
              </a:rPr>
              <a:t>received</a:t>
            </a:r>
            <a:r>
              <a:rPr lang="en-US" sz="2700">
                <a:solidFill>
                  <a:srgbClr val="F9F3E5"/>
                </a:solidFill>
                <a:latin typeface="Calibri"/>
                <a:ea typeface="Calibri"/>
                <a:cs typeface="Calibri"/>
                <a:sym typeface="Calibri"/>
              </a:rPr>
              <a:t> this message</a:t>
            </a:r>
            <a:endParaRPr sz="2700">
              <a:solidFill>
                <a:srgbClr val="F9F3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0" name="Google Shape;350;p22" title="Screenshot 2026-09-23 at 9.59.53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89338" y="9065652"/>
            <a:ext cx="10319075" cy="933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1" name="Google Shape;351;p22"/>
          <p:cNvGrpSpPr/>
          <p:nvPr/>
        </p:nvGrpSpPr>
        <p:grpSpPr>
          <a:xfrm>
            <a:off x="7965650" y="7610225"/>
            <a:ext cx="10155597" cy="1231502"/>
            <a:chOff x="0" y="0"/>
            <a:chExt cx="2733600" cy="478179"/>
          </a:xfrm>
        </p:grpSpPr>
        <p:sp>
          <p:nvSpPr>
            <p:cNvPr id="352" name="Google Shape;352;p22"/>
            <p:cNvSpPr/>
            <p:nvPr/>
          </p:nvSpPr>
          <p:spPr>
            <a:xfrm>
              <a:off x="0" y="0"/>
              <a:ext cx="2733497" cy="478179"/>
            </a:xfrm>
            <a:custGeom>
              <a:rect b="b" l="l" r="r" t="t"/>
              <a:pathLst>
                <a:path extrusionOk="0" h="478179" w="2733497">
                  <a:moveTo>
                    <a:pt x="83564" y="0"/>
                  </a:moveTo>
                  <a:lnTo>
                    <a:pt x="2649932" y="0"/>
                  </a:lnTo>
                  <a:cubicBezTo>
                    <a:pt x="2672095" y="0"/>
                    <a:pt x="2693350" y="8804"/>
                    <a:pt x="2709021" y="24475"/>
                  </a:cubicBezTo>
                  <a:cubicBezTo>
                    <a:pt x="2724692" y="40147"/>
                    <a:pt x="2733497" y="61402"/>
                    <a:pt x="2733497" y="83564"/>
                  </a:cubicBezTo>
                  <a:lnTo>
                    <a:pt x="2733497" y="394615"/>
                  </a:lnTo>
                  <a:cubicBezTo>
                    <a:pt x="2733497" y="416778"/>
                    <a:pt x="2724692" y="438033"/>
                    <a:pt x="2709021" y="453704"/>
                  </a:cubicBezTo>
                  <a:cubicBezTo>
                    <a:pt x="2693350" y="469375"/>
                    <a:pt x="2672095" y="478179"/>
                    <a:pt x="2649932" y="478179"/>
                  </a:cubicBezTo>
                  <a:lnTo>
                    <a:pt x="83564" y="478179"/>
                  </a:lnTo>
                  <a:cubicBezTo>
                    <a:pt x="61402" y="478179"/>
                    <a:pt x="40147" y="469375"/>
                    <a:pt x="24475" y="453704"/>
                  </a:cubicBezTo>
                  <a:cubicBezTo>
                    <a:pt x="8804" y="438033"/>
                    <a:pt x="0" y="416778"/>
                    <a:pt x="0" y="394615"/>
                  </a:cubicBezTo>
                  <a:lnTo>
                    <a:pt x="0" y="83564"/>
                  </a:lnTo>
                  <a:cubicBezTo>
                    <a:pt x="0" y="61402"/>
                    <a:pt x="8804" y="40147"/>
                    <a:pt x="24475" y="24475"/>
                  </a:cubicBezTo>
                  <a:cubicBezTo>
                    <a:pt x="40147" y="8804"/>
                    <a:pt x="61402" y="0"/>
                    <a:pt x="83564" y="0"/>
                  </a:cubicBezTo>
                  <a:close/>
                </a:path>
              </a:pathLst>
            </a:custGeom>
            <a:solidFill>
              <a:srgbClr val="00896B"/>
            </a:solidFill>
            <a:ln cap="rnd" cmpd="sng" w="571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2"/>
            <p:cNvSpPr txBox="1"/>
            <p:nvPr/>
          </p:nvSpPr>
          <p:spPr>
            <a:xfrm>
              <a:off x="0" y="9525"/>
              <a:ext cx="2733600" cy="46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1700" lIns="61700" spcFirstLastPara="1" rIns="61700" wrap="square" tIns="61700">
              <a:noAutofit/>
            </a:bodyPr>
            <a:lstStyle/>
            <a:p>
              <a:pPr indent="0" lvl="0" marL="0" marR="0" rtl="0" algn="ctr">
                <a:lnSpc>
                  <a:spcPct val="6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4" name="Google Shape;354;p22"/>
          <p:cNvSpPr txBox="1"/>
          <p:nvPr/>
        </p:nvSpPr>
        <p:spPr>
          <a:xfrm>
            <a:off x="8242300" y="7779275"/>
            <a:ext cx="97842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F9F3E5"/>
                </a:solidFill>
                <a:latin typeface="Calibri"/>
                <a:ea typeface="Calibri"/>
                <a:cs typeface="Calibri"/>
                <a:sym typeface="Calibri"/>
              </a:rPr>
              <a:t>logs a successful business action (like the completed deposit) written by the service layer</a:t>
            </a:r>
            <a:endParaRPr sz="2700">
              <a:solidFill>
                <a:srgbClr val="F9F3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2"/>
          <p:cNvSpPr txBox="1"/>
          <p:nvPr/>
        </p:nvSpPr>
        <p:spPr>
          <a:xfrm>
            <a:off x="11167575" y="5758813"/>
            <a:ext cx="34290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FFB1C3"/>
                </a:solidFill>
                <a:latin typeface="Calibri"/>
                <a:ea typeface="Calibri"/>
                <a:cs typeface="Calibri"/>
                <a:sym typeface="Calibri"/>
              </a:rPr>
              <a:t>ERROR</a:t>
            </a:r>
            <a:endParaRPr b="1" sz="3500">
              <a:solidFill>
                <a:srgbClr val="FFB1C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rgbClr val="FFB1C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FFB1C3"/>
                </a:solidFill>
                <a:latin typeface="Calibri"/>
                <a:ea typeface="Calibri"/>
                <a:cs typeface="Calibri"/>
                <a:sym typeface="Calibri"/>
              </a:rPr>
              <a:t> INFO</a:t>
            </a:r>
            <a:endParaRPr b="1" sz="3500">
              <a:solidFill>
                <a:srgbClr val="FF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2"/>
          <p:cNvSpPr/>
          <p:nvPr/>
        </p:nvSpPr>
        <p:spPr>
          <a:xfrm rot="10800000">
            <a:off x="10800975" y="6758625"/>
            <a:ext cx="1133100" cy="7404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FFB1C3"/>
          </a:solidFill>
          <a:ln cap="flat" cmpd="sng" w="9525">
            <a:solidFill>
              <a:srgbClr val="FFB1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2"/>
          <p:cNvSpPr/>
          <p:nvPr/>
        </p:nvSpPr>
        <p:spPr>
          <a:xfrm>
            <a:off x="14176025" y="5511075"/>
            <a:ext cx="1133100" cy="6636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FFB1C3"/>
          </a:solidFill>
          <a:ln cap="flat" cmpd="sng" w="9525">
            <a:solidFill>
              <a:srgbClr val="FFB1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2"/>
          <p:cNvSpPr/>
          <p:nvPr/>
        </p:nvSpPr>
        <p:spPr>
          <a:xfrm flipH="1">
            <a:off x="10800975" y="5511075"/>
            <a:ext cx="1133100" cy="6636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FFB1C3"/>
          </a:solidFill>
          <a:ln cap="flat" cmpd="sng" w="9525">
            <a:solidFill>
              <a:srgbClr val="FFB1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2"/>
          <p:cNvSpPr/>
          <p:nvPr/>
        </p:nvSpPr>
        <p:spPr>
          <a:xfrm flipH="1" rot="10800000">
            <a:off x="14176025" y="6758628"/>
            <a:ext cx="1133100" cy="7404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FFB1C3"/>
          </a:solidFill>
          <a:ln cap="flat" cmpd="sng" w="9525">
            <a:solidFill>
              <a:srgbClr val="FFB1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3E5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4" name="Google Shape;364;p23"/>
          <p:cNvGrpSpPr/>
          <p:nvPr/>
        </p:nvGrpSpPr>
        <p:grpSpPr>
          <a:xfrm>
            <a:off x="11929674" y="1080400"/>
            <a:ext cx="4549160" cy="1232094"/>
            <a:chOff x="0" y="0"/>
            <a:chExt cx="812800" cy="260700"/>
          </a:xfrm>
        </p:grpSpPr>
        <p:sp>
          <p:nvSpPr>
            <p:cNvPr id="365" name="Google Shape;365;p23"/>
            <p:cNvSpPr/>
            <p:nvPr/>
          </p:nvSpPr>
          <p:spPr>
            <a:xfrm>
              <a:off x="0" y="0"/>
              <a:ext cx="812800" cy="260570"/>
            </a:xfrm>
            <a:custGeom>
              <a:rect b="b" l="l" r="r" t="t"/>
              <a:pathLst>
                <a:path extrusionOk="0" h="260570" w="812800">
                  <a:moveTo>
                    <a:pt x="130285" y="0"/>
                  </a:moveTo>
                  <a:lnTo>
                    <a:pt x="682515" y="0"/>
                  </a:lnTo>
                  <a:cubicBezTo>
                    <a:pt x="754470" y="0"/>
                    <a:pt x="812800" y="58330"/>
                    <a:pt x="812800" y="130285"/>
                  </a:cubicBezTo>
                  <a:lnTo>
                    <a:pt x="812800" y="130285"/>
                  </a:lnTo>
                  <a:cubicBezTo>
                    <a:pt x="812800" y="202239"/>
                    <a:pt x="754470" y="260570"/>
                    <a:pt x="682515" y="260570"/>
                  </a:cubicBezTo>
                  <a:lnTo>
                    <a:pt x="130285" y="260570"/>
                  </a:lnTo>
                  <a:cubicBezTo>
                    <a:pt x="58330" y="260570"/>
                    <a:pt x="0" y="202239"/>
                    <a:pt x="0" y="130285"/>
                  </a:cubicBezTo>
                  <a:lnTo>
                    <a:pt x="0" y="130285"/>
                  </a:lnTo>
                  <a:cubicBezTo>
                    <a:pt x="0" y="58330"/>
                    <a:pt x="58330" y="0"/>
                    <a:pt x="130285" y="0"/>
                  </a:cubicBezTo>
                  <a:close/>
                </a:path>
              </a:pathLst>
            </a:custGeom>
            <a:solidFill>
              <a:srgbClr val="FFB1C3"/>
            </a:solidFill>
            <a:ln>
              <a:noFill/>
            </a:ln>
          </p:spPr>
          <p:txBody>
            <a:bodyPr anchorCtr="0" anchor="ctr" bIns="113800" lIns="113800" spcFirstLastPara="1" rIns="113800" wrap="square" tIns="11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3"/>
            <p:cNvSpPr txBox="1"/>
            <p:nvPr/>
          </p:nvSpPr>
          <p:spPr>
            <a:xfrm>
              <a:off x="0" y="38100"/>
              <a:ext cx="8127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225" lIns="63225" spcFirstLastPara="1" rIns="63225" wrap="square" tIns="63225">
              <a:noAutofit/>
            </a:bodyPr>
            <a:lstStyle/>
            <a:p>
              <a:pPr indent="0" lvl="0" marL="0" marR="0" rtl="0" algn="ctr">
                <a:lnSpc>
                  <a:spcPct val="149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4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7" name="Google Shape;367;p23"/>
          <p:cNvSpPr txBox="1"/>
          <p:nvPr/>
        </p:nvSpPr>
        <p:spPr>
          <a:xfrm>
            <a:off x="12128500" y="1203850"/>
            <a:ext cx="43503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DM Sans"/>
                <a:ea typeface="DM Sans"/>
                <a:cs typeface="DM Sans"/>
                <a:sym typeface="DM Sans"/>
              </a:rPr>
              <a:t>testing (JUnit + mockito)</a:t>
            </a:r>
            <a:endParaRPr sz="3200"/>
          </a:p>
        </p:txBody>
      </p:sp>
      <p:sp>
        <p:nvSpPr>
          <p:cNvPr id="368" name="Google Shape;368;p23"/>
          <p:cNvSpPr txBox="1"/>
          <p:nvPr/>
        </p:nvSpPr>
        <p:spPr>
          <a:xfrm>
            <a:off x="304800" y="190500"/>
            <a:ext cx="72009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u="sng">
                <a:solidFill>
                  <a:srgbClr val="00896B"/>
                </a:solidFill>
                <a:latin typeface="Calistoga"/>
                <a:ea typeface="Calistoga"/>
                <a:cs typeface="Calistoga"/>
                <a:sym typeface="Calistoga"/>
              </a:rPr>
              <a:t>continued…</a:t>
            </a:r>
            <a:endParaRPr u="sng"/>
          </a:p>
        </p:txBody>
      </p:sp>
      <p:pic>
        <p:nvPicPr>
          <p:cNvPr id="369" name="Google Shape;369;p23" title="piiiiink.PNG"/>
          <p:cNvPicPr preferRelativeResize="0"/>
          <p:nvPr/>
        </p:nvPicPr>
        <p:blipFill rotWithShape="1">
          <a:blip r:embed="rId3">
            <a:alphaModFix/>
          </a:blip>
          <a:srcRect b="11453" l="17238" r="15689" t="7035"/>
          <a:stretch/>
        </p:blipFill>
        <p:spPr>
          <a:xfrm>
            <a:off x="10331450" y="2269925"/>
            <a:ext cx="8242300" cy="759092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3"/>
          <p:cNvSpPr txBox="1"/>
          <p:nvPr/>
        </p:nvSpPr>
        <p:spPr>
          <a:xfrm>
            <a:off x="11842750" y="4984750"/>
            <a:ext cx="5016600" cy="3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JUnit 5 runs the tests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Mockito mocks the DAO so service layer logic is tested w/out a live database connection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1" name="Google Shape;371;p23" title="Screenshot 2026-09-23 at 10.11.0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800" y="1709250"/>
            <a:ext cx="8941426" cy="2481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2" name="Google Shape;372;p23"/>
          <p:cNvGrpSpPr/>
          <p:nvPr/>
        </p:nvGrpSpPr>
        <p:grpSpPr>
          <a:xfrm>
            <a:off x="146050" y="4530475"/>
            <a:ext cx="9899732" cy="1294863"/>
            <a:chOff x="0" y="0"/>
            <a:chExt cx="2733600" cy="502781"/>
          </a:xfrm>
        </p:grpSpPr>
        <p:sp>
          <p:nvSpPr>
            <p:cNvPr id="373" name="Google Shape;373;p23"/>
            <p:cNvSpPr/>
            <p:nvPr/>
          </p:nvSpPr>
          <p:spPr>
            <a:xfrm>
              <a:off x="0" y="0"/>
              <a:ext cx="2733497" cy="478179"/>
            </a:xfrm>
            <a:custGeom>
              <a:rect b="b" l="l" r="r" t="t"/>
              <a:pathLst>
                <a:path extrusionOk="0" h="478179" w="2733497">
                  <a:moveTo>
                    <a:pt x="83564" y="0"/>
                  </a:moveTo>
                  <a:lnTo>
                    <a:pt x="2649932" y="0"/>
                  </a:lnTo>
                  <a:cubicBezTo>
                    <a:pt x="2672095" y="0"/>
                    <a:pt x="2693350" y="8804"/>
                    <a:pt x="2709021" y="24475"/>
                  </a:cubicBezTo>
                  <a:cubicBezTo>
                    <a:pt x="2724692" y="40147"/>
                    <a:pt x="2733497" y="61402"/>
                    <a:pt x="2733497" y="83564"/>
                  </a:cubicBezTo>
                  <a:lnTo>
                    <a:pt x="2733497" y="394615"/>
                  </a:lnTo>
                  <a:cubicBezTo>
                    <a:pt x="2733497" y="416778"/>
                    <a:pt x="2724692" y="438033"/>
                    <a:pt x="2709021" y="453704"/>
                  </a:cubicBezTo>
                  <a:cubicBezTo>
                    <a:pt x="2693350" y="469375"/>
                    <a:pt x="2672095" y="478179"/>
                    <a:pt x="2649932" y="478179"/>
                  </a:cubicBezTo>
                  <a:lnTo>
                    <a:pt x="83564" y="478179"/>
                  </a:lnTo>
                  <a:cubicBezTo>
                    <a:pt x="61402" y="478179"/>
                    <a:pt x="40147" y="469375"/>
                    <a:pt x="24475" y="453704"/>
                  </a:cubicBezTo>
                  <a:cubicBezTo>
                    <a:pt x="8804" y="438033"/>
                    <a:pt x="0" y="416778"/>
                    <a:pt x="0" y="394615"/>
                  </a:cubicBezTo>
                  <a:lnTo>
                    <a:pt x="0" y="83564"/>
                  </a:lnTo>
                  <a:cubicBezTo>
                    <a:pt x="0" y="61402"/>
                    <a:pt x="8804" y="40147"/>
                    <a:pt x="24475" y="24475"/>
                  </a:cubicBezTo>
                  <a:cubicBezTo>
                    <a:pt x="40147" y="8804"/>
                    <a:pt x="61402" y="0"/>
                    <a:pt x="83564" y="0"/>
                  </a:cubicBezTo>
                  <a:close/>
                </a:path>
              </a:pathLst>
            </a:custGeom>
            <a:solidFill>
              <a:srgbClr val="00896B"/>
            </a:solidFill>
            <a:ln cap="rnd" cmpd="sng" w="57150">
              <a:solidFill>
                <a:srgbClr val="0089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3"/>
            <p:cNvSpPr txBox="1"/>
            <p:nvPr/>
          </p:nvSpPr>
          <p:spPr>
            <a:xfrm>
              <a:off x="0" y="34181"/>
              <a:ext cx="2733600" cy="468600"/>
            </a:xfrm>
            <a:prstGeom prst="rect">
              <a:avLst/>
            </a:prstGeom>
            <a:noFill/>
            <a:ln cap="flat" cmpd="sng" w="9525">
              <a:solidFill>
                <a:srgbClr val="0089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700" lIns="61700" spcFirstLastPara="1" rIns="61700" wrap="square" tIns="61700">
              <a:noAutofit/>
            </a:bodyPr>
            <a:lstStyle/>
            <a:p>
              <a:pPr indent="0" lvl="0" marL="0" marR="0" rtl="0" algn="ctr">
                <a:lnSpc>
                  <a:spcPct val="6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5" name="Google Shape;375;p23"/>
          <p:cNvSpPr txBox="1"/>
          <p:nvPr/>
        </p:nvSpPr>
        <p:spPr>
          <a:xfrm>
            <a:off x="508000" y="4731225"/>
            <a:ext cx="92709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F9F3E5"/>
                </a:solidFill>
                <a:latin typeface="Calibri"/>
                <a:ea typeface="Calibri"/>
                <a:cs typeface="Calibri"/>
                <a:sym typeface="Calibri"/>
              </a:rPr>
              <a:t>Positive test: confirms a valid deposit is passed through to the DAO correctly</a:t>
            </a:r>
            <a:endParaRPr sz="2700">
              <a:solidFill>
                <a:srgbClr val="F9F3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6" name="Google Shape;376;p23" title="Screenshot 2026-09-23 at 10.14.23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6225" y="7715250"/>
            <a:ext cx="9455150" cy="2351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7" name="Google Shape;377;p23"/>
          <p:cNvGrpSpPr/>
          <p:nvPr/>
        </p:nvGrpSpPr>
        <p:grpSpPr>
          <a:xfrm>
            <a:off x="146050" y="6120138"/>
            <a:ext cx="9899732" cy="1294863"/>
            <a:chOff x="0" y="0"/>
            <a:chExt cx="2733600" cy="502781"/>
          </a:xfrm>
        </p:grpSpPr>
        <p:sp>
          <p:nvSpPr>
            <p:cNvPr id="378" name="Google Shape;378;p23"/>
            <p:cNvSpPr/>
            <p:nvPr/>
          </p:nvSpPr>
          <p:spPr>
            <a:xfrm>
              <a:off x="0" y="0"/>
              <a:ext cx="2733497" cy="478179"/>
            </a:xfrm>
            <a:custGeom>
              <a:rect b="b" l="l" r="r" t="t"/>
              <a:pathLst>
                <a:path extrusionOk="0" h="478179" w="2733497">
                  <a:moveTo>
                    <a:pt x="83564" y="0"/>
                  </a:moveTo>
                  <a:lnTo>
                    <a:pt x="2649932" y="0"/>
                  </a:lnTo>
                  <a:cubicBezTo>
                    <a:pt x="2672095" y="0"/>
                    <a:pt x="2693350" y="8804"/>
                    <a:pt x="2709021" y="24475"/>
                  </a:cubicBezTo>
                  <a:cubicBezTo>
                    <a:pt x="2724692" y="40147"/>
                    <a:pt x="2733497" y="61402"/>
                    <a:pt x="2733497" y="83564"/>
                  </a:cubicBezTo>
                  <a:lnTo>
                    <a:pt x="2733497" y="394615"/>
                  </a:lnTo>
                  <a:cubicBezTo>
                    <a:pt x="2733497" y="416778"/>
                    <a:pt x="2724692" y="438033"/>
                    <a:pt x="2709021" y="453704"/>
                  </a:cubicBezTo>
                  <a:cubicBezTo>
                    <a:pt x="2693350" y="469375"/>
                    <a:pt x="2672095" y="478179"/>
                    <a:pt x="2649932" y="478179"/>
                  </a:cubicBezTo>
                  <a:lnTo>
                    <a:pt x="83564" y="478179"/>
                  </a:lnTo>
                  <a:cubicBezTo>
                    <a:pt x="61402" y="478179"/>
                    <a:pt x="40147" y="469375"/>
                    <a:pt x="24475" y="453704"/>
                  </a:cubicBezTo>
                  <a:cubicBezTo>
                    <a:pt x="8804" y="438033"/>
                    <a:pt x="0" y="416778"/>
                    <a:pt x="0" y="394615"/>
                  </a:cubicBezTo>
                  <a:lnTo>
                    <a:pt x="0" y="83564"/>
                  </a:lnTo>
                  <a:cubicBezTo>
                    <a:pt x="0" y="61402"/>
                    <a:pt x="8804" y="40147"/>
                    <a:pt x="24475" y="24475"/>
                  </a:cubicBezTo>
                  <a:cubicBezTo>
                    <a:pt x="40147" y="8804"/>
                    <a:pt x="61402" y="0"/>
                    <a:pt x="83564" y="0"/>
                  </a:cubicBezTo>
                  <a:close/>
                </a:path>
              </a:pathLst>
            </a:custGeom>
            <a:solidFill>
              <a:srgbClr val="00896B"/>
            </a:solidFill>
            <a:ln cap="rnd" cmpd="sng" w="57150">
              <a:solidFill>
                <a:srgbClr val="0089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3"/>
            <p:cNvSpPr txBox="1"/>
            <p:nvPr/>
          </p:nvSpPr>
          <p:spPr>
            <a:xfrm>
              <a:off x="0" y="34181"/>
              <a:ext cx="2733600" cy="468600"/>
            </a:xfrm>
            <a:prstGeom prst="rect">
              <a:avLst/>
            </a:prstGeom>
            <a:noFill/>
            <a:ln cap="flat" cmpd="sng" w="9525">
              <a:solidFill>
                <a:srgbClr val="0089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700" lIns="61700" spcFirstLastPara="1" rIns="61700" wrap="square" tIns="61700">
              <a:noAutofit/>
            </a:bodyPr>
            <a:lstStyle/>
            <a:p>
              <a:pPr indent="0" lvl="0" marL="0" marR="0" rtl="0" algn="ctr">
                <a:lnSpc>
                  <a:spcPct val="6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0" name="Google Shape;380;p23"/>
          <p:cNvSpPr txBox="1"/>
          <p:nvPr/>
        </p:nvSpPr>
        <p:spPr>
          <a:xfrm>
            <a:off x="508000" y="6320888"/>
            <a:ext cx="92709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F9F3E5"/>
                </a:solidFill>
                <a:latin typeface="Calibri"/>
                <a:ea typeface="Calibri"/>
                <a:cs typeface="Calibri"/>
                <a:sym typeface="Calibri"/>
              </a:rPr>
              <a:t>negative test: confirms a negative amount is rejected before the DAO is ever called</a:t>
            </a:r>
            <a:endParaRPr sz="2700">
              <a:solidFill>
                <a:srgbClr val="F9F3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3"/>
          <p:cNvSpPr/>
          <p:nvPr/>
        </p:nvSpPr>
        <p:spPr>
          <a:xfrm flipH="1">
            <a:off x="8768600" y="2269925"/>
            <a:ext cx="1310400" cy="2802900"/>
          </a:xfrm>
          <a:prstGeom prst="bentArrow">
            <a:avLst>
              <a:gd fmla="val 25000" name="adj1"/>
              <a:gd fmla="val 43874" name="adj2"/>
              <a:gd fmla="val 25000" name="adj3"/>
              <a:gd fmla="val 19148" name="adj4"/>
            </a:avLst>
          </a:prstGeom>
          <a:solidFill>
            <a:srgbClr val="00896B"/>
          </a:solidFill>
          <a:ln cap="flat" cmpd="sng" w="9525">
            <a:solidFill>
              <a:srgbClr val="008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3"/>
          <p:cNvSpPr/>
          <p:nvPr/>
        </p:nvSpPr>
        <p:spPr>
          <a:xfrm rot="10800000">
            <a:off x="8912375" y="7214225"/>
            <a:ext cx="1133400" cy="2144100"/>
          </a:xfrm>
          <a:prstGeom prst="bentArrow">
            <a:avLst>
              <a:gd fmla="val 25000" name="adj1"/>
              <a:gd fmla="val 43615" name="adj2"/>
              <a:gd fmla="val 25000" name="adj3"/>
              <a:gd fmla="val 19148" name="adj4"/>
            </a:avLst>
          </a:prstGeom>
          <a:solidFill>
            <a:srgbClr val="00896B"/>
          </a:solidFill>
          <a:ln cap="flat" cmpd="sng" w="9525">
            <a:solidFill>
              <a:srgbClr val="008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3E5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7" name="Google Shape;387;p24"/>
          <p:cNvGrpSpPr/>
          <p:nvPr/>
        </p:nvGrpSpPr>
        <p:grpSpPr>
          <a:xfrm>
            <a:off x="1028700" y="4515176"/>
            <a:ext cx="16230707" cy="5586312"/>
            <a:chOff x="0" y="0"/>
            <a:chExt cx="4274726" cy="1643758"/>
          </a:xfrm>
        </p:grpSpPr>
        <p:sp>
          <p:nvSpPr>
            <p:cNvPr id="388" name="Google Shape;388;p24"/>
            <p:cNvSpPr/>
            <p:nvPr/>
          </p:nvSpPr>
          <p:spPr>
            <a:xfrm>
              <a:off x="0" y="0"/>
              <a:ext cx="4274726" cy="1643758"/>
            </a:xfrm>
            <a:custGeom>
              <a:rect b="b" l="l" r="r" t="t"/>
              <a:pathLst>
                <a:path extrusionOk="0" h="164375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643758"/>
                  </a:lnTo>
                  <a:lnTo>
                    <a:pt x="0" y="1643758"/>
                  </a:lnTo>
                  <a:close/>
                </a:path>
              </a:pathLst>
            </a:custGeom>
            <a:solidFill>
              <a:srgbClr val="FFB1C3"/>
            </a:solidFill>
            <a:ln cap="sq" cmpd="sng" w="38100">
              <a:solidFill>
                <a:srgbClr val="FFB1C3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89" name="Google Shape;389;p24"/>
            <p:cNvSpPr txBox="1"/>
            <p:nvPr/>
          </p:nvSpPr>
          <p:spPr>
            <a:xfrm>
              <a:off x="0" y="38100"/>
              <a:ext cx="4274700" cy="1605600"/>
            </a:xfrm>
            <a:prstGeom prst="rect">
              <a:avLst/>
            </a:prstGeom>
            <a:noFill/>
            <a:ln cap="flat" cmpd="sng" w="9525">
              <a:solidFill>
                <a:srgbClr val="FFB1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9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0" name="Google Shape;390;p24"/>
          <p:cNvSpPr/>
          <p:nvPr/>
        </p:nvSpPr>
        <p:spPr>
          <a:xfrm>
            <a:off x="501300" y="805825"/>
            <a:ext cx="2777714" cy="2623185"/>
          </a:xfrm>
          <a:custGeom>
            <a:rect b="b" l="l" r="r" t="t"/>
            <a:pathLst>
              <a:path extrusionOk="0" h="4114800" w="4084874">
                <a:moveTo>
                  <a:pt x="0" y="0"/>
                </a:moveTo>
                <a:lnTo>
                  <a:pt x="4084874" y="0"/>
                </a:lnTo>
                <a:lnTo>
                  <a:pt x="40848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1" name="Google Shape;391;p24"/>
          <p:cNvSpPr/>
          <p:nvPr/>
        </p:nvSpPr>
        <p:spPr>
          <a:xfrm>
            <a:off x="15292125" y="572775"/>
            <a:ext cx="2777714" cy="2623185"/>
          </a:xfrm>
          <a:custGeom>
            <a:rect b="b" l="l" r="r" t="t"/>
            <a:pathLst>
              <a:path extrusionOk="0" h="4114800" w="4084874">
                <a:moveTo>
                  <a:pt x="0" y="0"/>
                </a:moveTo>
                <a:lnTo>
                  <a:pt x="4084874" y="0"/>
                </a:lnTo>
                <a:lnTo>
                  <a:pt x="40848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92" name="Google Shape;392;p24"/>
          <p:cNvGrpSpPr/>
          <p:nvPr/>
        </p:nvGrpSpPr>
        <p:grpSpPr>
          <a:xfrm>
            <a:off x="4732675" y="911850"/>
            <a:ext cx="8121979" cy="5586312"/>
            <a:chOff x="0" y="0"/>
            <a:chExt cx="4274726" cy="1643758"/>
          </a:xfrm>
        </p:grpSpPr>
        <p:sp>
          <p:nvSpPr>
            <p:cNvPr id="393" name="Google Shape;393;p24"/>
            <p:cNvSpPr/>
            <p:nvPr/>
          </p:nvSpPr>
          <p:spPr>
            <a:xfrm>
              <a:off x="0" y="0"/>
              <a:ext cx="4274726" cy="1643758"/>
            </a:xfrm>
            <a:custGeom>
              <a:rect b="b" l="l" r="r" t="t"/>
              <a:pathLst>
                <a:path extrusionOk="0" h="164375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643758"/>
                  </a:lnTo>
                  <a:lnTo>
                    <a:pt x="0" y="1643758"/>
                  </a:lnTo>
                  <a:close/>
                </a:path>
              </a:pathLst>
            </a:custGeom>
            <a:solidFill>
              <a:srgbClr val="FFB1C3"/>
            </a:solidFill>
            <a:ln cap="sq" cmpd="sng" w="38100">
              <a:solidFill>
                <a:srgbClr val="FFB1C3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94" name="Google Shape;394;p24"/>
            <p:cNvSpPr txBox="1"/>
            <p:nvPr/>
          </p:nvSpPr>
          <p:spPr>
            <a:xfrm>
              <a:off x="0" y="38100"/>
              <a:ext cx="4274700" cy="1605600"/>
            </a:xfrm>
            <a:prstGeom prst="rect">
              <a:avLst/>
            </a:prstGeom>
            <a:noFill/>
            <a:ln cap="flat" cmpd="sng" w="9525">
              <a:solidFill>
                <a:srgbClr val="FFB1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9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95" name="Google Shape;395;p24" title="Screenshot 2026-09-23 at 10.44.0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5897" y="2325469"/>
            <a:ext cx="10636475" cy="699158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4"/>
          <p:cNvSpPr txBox="1"/>
          <p:nvPr/>
        </p:nvSpPr>
        <p:spPr>
          <a:xfrm>
            <a:off x="4316900" y="243525"/>
            <a:ext cx="89535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u="sng">
                <a:solidFill>
                  <a:srgbClr val="00896B"/>
                </a:solidFill>
                <a:latin typeface="Calistoga"/>
                <a:ea typeface="Calistoga"/>
                <a:cs typeface="Calistoga"/>
                <a:sym typeface="Calistoga"/>
              </a:rPr>
              <a:t>ERD:</a:t>
            </a:r>
            <a:endParaRPr u="sng"/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3E5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1" name="Google Shape;401;p25"/>
          <p:cNvGrpSpPr/>
          <p:nvPr/>
        </p:nvGrpSpPr>
        <p:grpSpPr>
          <a:xfrm>
            <a:off x="2187834" y="1309808"/>
            <a:ext cx="13912332" cy="7667383"/>
            <a:chOff x="0" y="0"/>
            <a:chExt cx="1474811" cy="812800"/>
          </a:xfrm>
        </p:grpSpPr>
        <p:sp>
          <p:nvSpPr>
            <p:cNvPr id="402" name="Google Shape;402;p25"/>
            <p:cNvSpPr/>
            <p:nvPr/>
          </p:nvSpPr>
          <p:spPr>
            <a:xfrm>
              <a:off x="0" y="0"/>
              <a:ext cx="1474811" cy="812800"/>
            </a:xfrm>
            <a:custGeom>
              <a:rect b="b" l="l" r="r" t="t"/>
              <a:pathLst>
                <a:path extrusionOk="0" h="812800" w="1474811">
                  <a:moveTo>
                    <a:pt x="737406" y="0"/>
                  </a:moveTo>
                  <a:cubicBezTo>
                    <a:pt x="330148" y="0"/>
                    <a:pt x="0" y="181951"/>
                    <a:pt x="0" y="406400"/>
                  </a:cubicBezTo>
                  <a:cubicBezTo>
                    <a:pt x="0" y="630849"/>
                    <a:pt x="330148" y="812800"/>
                    <a:pt x="737406" y="812800"/>
                  </a:cubicBezTo>
                  <a:cubicBezTo>
                    <a:pt x="1144663" y="812800"/>
                    <a:pt x="1474811" y="630849"/>
                    <a:pt x="1474811" y="406400"/>
                  </a:cubicBezTo>
                  <a:cubicBezTo>
                    <a:pt x="1474811" y="181951"/>
                    <a:pt x="1144663" y="0"/>
                    <a:pt x="737406" y="0"/>
                  </a:cubicBezTo>
                  <a:close/>
                </a:path>
              </a:pathLst>
            </a:custGeom>
            <a:solidFill>
              <a:srgbClr val="FFB1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5"/>
            <p:cNvSpPr txBox="1"/>
            <p:nvPr/>
          </p:nvSpPr>
          <p:spPr>
            <a:xfrm>
              <a:off x="138264" y="114300"/>
              <a:ext cx="1198284" cy="6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9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4" name="Google Shape;404;p25"/>
          <p:cNvSpPr txBox="1"/>
          <p:nvPr/>
        </p:nvSpPr>
        <p:spPr>
          <a:xfrm>
            <a:off x="1276421" y="2886289"/>
            <a:ext cx="15735300" cy="49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0" u="none" cap="none" strike="noStrike">
                <a:solidFill>
                  <a:srgbClr val="00896B"/>
                </a:solidFill>
                <a:latin typeface="Calistoga"/>
                <a:ea typeface="Calistoga"/>
                <a:cs typeface="Calistoga"/>
                <a:sym typeface="Calistoga"/>
              </a:rPr>
              <a:t>Thank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0" u="none" cap="none" strike="noStrike">
                <a:solidFill>
                  <a:srgbClr val="00896B"/>
                </a:solidFill>
                <a:latin typeface="Calistoga"/>
                <a:ea typeface="Calistoga"/>
                <a:cs typeface="Calistoga"/>
                <a:sym typeface="Calistoga"/>
              </a:rPr>
              <a:t>You!</a:t>
            </a:r>
            <a:endParaRPr/>
          </a:p>
        </p:txBody>
      </p:sp>
      <p:sp>
        <p:nvSpPr>
          <p:cNvPr id="405" name="Google Shape;405;p25"/>
          <p:cNvSpPr/>
          <p:nvPr/>
        </p:nvSpPr>
        <p:spPr>
          <a:xfrm>
            <a:off x="16745102" y="5876685"/>
            <a:ext cx="798143" cy="760412"/>
          </a:xfrm>
          <a:custGeom>
            <a:rect b="b" l="l" r="r" t="t"/>
            <a:pathLst>
              <a:path extrusionOk="0" h="760412" w="798143">
                <a:moveTo>
                  <a:pt x="0" y="0"/>
                </a:moveTo>
                <a:lnTo>
                  <a:pt x="798143" y="0"/>
                </a:lnTo>
                <a:lnTo>
                  <a:pt x="798143" y="760412"/>
                </a:lnTo>
                <a:lnTo>
                  <a:pt x="0" y="7604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6" name="Google Shape;406;p25"/>
          <p:cNvSpPr/>
          <p:nvPr/>
        </p:nvSpPr>
        <p:spPr>
          <a:xfrm>
            <a:off x="16109617" y="2819610"/>
            <a:ext cx="2069109" cy="1971297"/>
          </a:xfrm>
          <a:custGeom>
            <a:rect b="b" l="l" r="r" t="t"/>
            <a:pathLst>
              <a:path extrusionOk="0" h="1971297" w="2069109">
                <a:moveTo>
                  <a:pt x="0" y="0"/>
                </a:moveTo>
                <a:lnTo>
                  <a:pt x="2069109" y="0"/>
                </a:lnTo>
                <a:lnTo>
                  <a:pt x="2069109" y="1971297"/>
                </a:lnTo>
                <a:lnTo>
                  <a:pt x="0" y="19712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7" name="Google Shape;407;p25"/>
          <p:cNvSpPr/>
          <p:nvPr/>
        </p:nvSpPr>
        <p:spPr>
          <a:xfrm>
            <a:off x="480523" y="6541498"/>
            <a:ext cx="2069109" cy="1971297"/>
          </a:xfrm>
          <a:custGeom>
            <a:rect b="b" l="l" r="r" t="t"/>
            <a:pathLst>
              <a:path extrusionOk="0" h="1971297" w="2069109">
                <a:moveTo>
                  <a:pt x="0" y="0"/>
                </a:moveTo>
                <a:lnTo>
                  <a:pt x="2069109" y="0"/>
                </a:lnTo>
                <a:lnTo>
                  <a:pt x="2069109" y="1971296"/>
                </a:lnTo>
                <a:lnTo>
                  <a:pt x="0" y="19712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8" name="Google Shape;408;p25"/>
          <p:cNvSpPr/>
          <p:nvPr/>
        </p:nvSpPr>
        <p:spPr>
          <a:xfrm>
            <a:off x="14145225" y="760163"/>
            <a:ext cx="2164097" cy="1734092"/>
          </a:xfrm>
          <a:custGeom>
            <a:rect b="b" l="l" r="r" t="t"/>
            <a:pathLst>
              <a:path extrusionOk="0" h="2730853" w="2866353">
                <a:moveTo>
                  <a:pt x="0" y="0"/>
                </a:moveTo>
                <a:lnTo>
                  <a:pt x="2866353" y="0"/>
                </a:lnTo>
                <a:lnTo>
                  <a:pt x="2866353" y="2730853"/>
                </a:lnTo>
                <a:lnTo>
                  <a:pt x="0" y="27308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9" name="Google Shape;409;p25"/>
          <p:cNvSpPr/>
          <p:nvPr/>
        </p:nvSpPr>
        <p:spPr>
          <a:xfrm>
            <a:off x="11940267" y="368421"/>
            <a:ext cx="798143" cy="760412"/>
          </a:xfrm>
          <a:custGeom>
            <a:rect b="b" l="l" r="r" t="t"/>
            <a:pathLst>
              <a:path extrusionOk="0" h="760412" w="798143">
                <a:moveTo>
                  <a:pt x="0" y="0"/>
                </a:moveTo>
                <a:lnTo>
                  <a:pt x="798143" y="0"/>
                </a:lnTo>
                <a:lnTo>
                  <a:pt x="798143" y="760412"/>
                </a:lnTo>
                <a:lnTo>
                  <a:pt x="0" y="7604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0" name="Google Shape;410;p25"/>
          <p:cNvSpPr/>
          <p:nvPr/>
        </p:nvSpPr>
        <p:spPr>
          <a:xfrm>
            <a:off x="16107350" y="7580677"/>
            <a:ext cx="2073657" cy="1975630"/>
          </a:xfrm>
          <a:custGeom>
            <a:rect b="b" l="l" r="r" t="t"/>
            <a:pathLst>
              <a:path extrusionOk="0" h="3692767" w="3875995">
                <a:moveTo>
                  <a:pt x="0" y="0"/>
                </a:moveTo>
                <a:lnTo>
                  <a:pt x="3875996" y="0"/>
                </a:lnTo>
                <a:lnTo>
                  <a:pt x="3875996" y="3692766"/>
                </a:lnTo>
                <a:lnTo>
                  <a:pt x="0" y="36927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1" name="Google Shape;411;p25"/>
          <p:cNvSpPr/>
          <p:nvPr/>
        </p:nvSpPr>
        <p:spPr>
          <a:xfrm>
            <a:off x="716935" y="4523002"/>
            <a:ext cx="798143" cy="760412"/>
          </a:xfrm>
          <a:custGeom>
            <a:rect b="b" l="l" r="r" t="t"/>
            <a:pathLst>
              <a:path extrusionOk="0" h="760412" w="798143">
                <a:moveTo>
                  <a:pt x="0" y="0"/>
                </a:moveTo>
                <a:lnTo>
                  <a:pt x="798143" y="0"/>
                </a:lnTo>
                <a:lnTo>
                  <a:pt x="798143" y="760412"/>
                </a:lnTo>
                <a:lnTo>
                  <a:pt x="0" y="7604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2" name="Google Shape;412;p25"/>
          <p:cNvSpPr/>
          <p:nvPr/>
        </p:nvSpPr>
        <p:spPr>
          <a:xfrm>
            <a:off x="480523" y="420429"/>
            <a:ext cx="1487109" cy="1416809"/>
          </a:xfrm>
          <a:custGeom>
            <a:rect b="b" l="l" r="r" t="t"/>
            <a:pathLst>
              <a:path extrusionOk="0" h="1416809" w="1487109">
                <a:moveTo>
                  <a:pt x="0" y="0"/>
                </a:moveTo>
                <a:lnTo>
                  <a:pt x="1487109" y="0"/>
                </a:lnTo>
                <a:lnTo>
                  <a:pt x="1487109" y="1416809"/>
                </a:lnTo>
                <a:lnTo>
                  <a:pt x="0" y="1416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3" name="Google Shape;413;p25"/>
          <p:cNvSpPr/>
          <p:nvPr/>
        </p:nvSpPr>
        <p:spPr>
          <a:xfrm>
            <a:off x="3259203" y="368413"/>
            <a:ext cx="2163626" cy="2061346"/>
          </a:xfrm>
          <a:custGeom>
            <a:rect b="b" l="l" r="r" t="t"/>
            <a:pathLst>
              <a:path extrusionOk="0" h="2061346" w="2163626">
                <a:moveTo>
                  <a:pt x="0" y="0"/>
                </a:moveTo>
                <a:lnTo>
                  <a:pt x="2163626" y="0"/>
                </a:lnTo>
                <a:lnTo>
                  <a:pt x="2163626" y="2061345"/>
                </a:lnTo>
                <a:lnTo>
                  <a:pt x="0" y="20613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4" name="Google Shape;414;p25"/>
          <p:cNvSpPr/>
          <p:nvPr/>
        </p:nvSpPr>
        <p:spPr>
          <a:xfrm>
            <a:off x="2948699" y="8552050"/>
            <a:ext cx="1269388" cy="1412483"/>
          </a:xfrm>
          <a:custGeom>
            <a:rect b="b" l="l" r="r" t="t"/>
            <a:pathLst>
              <a:path extrusionOk="0" h="3692767" w="3875995">
                <a:moveTo>
                  <a:pt x="0" y="0"/>
                </a:moveTo>
                <a:lnTo>
                  <a:pt x="3875996" y="0"/>
                </a:lnTo>
                <a:lnTo>
                  <a:pt x="3875996" y="3692766"/>
                </a:lnTo>
                <a:lnTo>
                  <a:pt x="0" y="36927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5" name="Google Shape;415;p25"/>
          <p:cNvSpPr/>
          <p:nvPr/>
        </p:nvSpPr>
        <p:spPr>
          <a:xfrm>
            <a:off x="7657358" y="-101070"/>
            <a:ext cx="798143" cy="760412"/>
          </a:xfrm>
          <a:custGeom>
            <a:rect b="b" l="l" r="r" t="t"/>
            <a:pathLst>
              <a:path extrusionOk="0" h="760412" w="798143">
                <a:moveTo>
                  <a:pt x="0" y="0"/>
                </a:moveTo>
                <a:lnTo>
                  <a:pt x="798142" y="0"/>
                </a:lnTo>
                <a:lnTo>
                  <a:pt x="798142" y="760412"/>
                </a:lnTo>
                <a:lnTo>
                  <a:pt x="0" y="7604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6" name="Google Shape;416;p25"/>
          <p:cNvSpPr/>
          <p:nvPr/>
        </p:nvSpPr>
        <p:spPr>
          <a:xfrm>
            <a:off x="13509294" y="8512794"/>
            <a:ext cx="2069109" cy="1971297"/>
          </a:xfrm>
          <a:custGeom>
            <a:rect b="b" l="l" r="r" t="t"/>
            <a:pathLst>
              <a:path extrusionOk="0" h="1971297" w="2069109">
                <a:moveTo>
                  <a:pt x="0" y="0"/>
                </a:moveTo>
                <a:lnTo>
                  <a:pt x="2069109" y="0"/>
                </a:lnTo>
                <a:lnTo>
                  <a:pt x="2069109" y="1971297"/>
                </a:lnTo>
                <a:lnTo>
                  <a:pt x="0" y="19712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7" name="Google Shape;417;p25"/>
          <p:cNvSpPr/>
          <p:nvPr/>
        </p:nvSpPr>
        <p:spPr>
          <a:xfrm>
            <a:off x="4740750" y="8551085"/>
            <a:ext cx="1639769" cy="1414406"/>
          </a:xfrm>
          <a:custGeom>
            <a:rect b="b" l="l" r="r" t="t"/>
            <a:pathLst>
              <a:path extrusionOk="0" h="1971297" w="2069109">
                <a:moveTo>
                  <a:pt x="0" y="0"/>
                </a:moveTo>
                <a:lnTo>
                  <a:pt x="2069109" y="0"/>
                </a:lnTo>
                <a:lnTo>
                  <a:pt x="2069109" y="1971296"/>
                </a:lnTo>
                <a:lnTo>
                  <a:pt x="0" y="19712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8" name="Google Shape;418;p25"/>
          <p:cNvSpPr/>
          <p:nvPr/>
        </p:nvSpPr>
        <p:spPr>
          <a:xfrm>
            <a:off x="11541196" y="9158167"/>
            <a:ext cx="798143" cy="760412"/>
          </a:xfrm>
          <a:custGeom>
            <a:rect b="b" l="l" r="r" t="t"/>
            <a:pathLst>
              <a:path extrusionOk="0" h="760412" w="798143">
                <a:moveTo>
                  <a:pt x="0" y="0"/>
                </a:moveTo>
                <a:lnTo>
                  <a:pt x="798142" y="0"/>
                </a:lnTo>
                <a:lnTo>
                  <a:pt x="798142" y="760412"/>
                </a:lnTo>
                <a:lnTo>
                  <a:pt x="0" y="7604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9" name="Google Shape;419;p25"/>
          <p:cNvSpPr/>
          <p:nvPr/>
        </p:nvSpPr>
        <p:spPr>
          <a:xfrm>
            <a:off x="2150561" y="1733848"/>
            <a:ext cx="798143" cy="760412"/>
          </a:xfrm>
          <a:custGeom>
            <a:rect b="b" l="l" r="r" t="t"/>
            <a:pathLst>
              <a:path extrusionOk="0" h="760412" w="798143">
                <a:moveTo>
                  <a:pt x="0" y="0"/>
                </a:moveTo>
                <a:lnTo>
                  <a:pt x="798143" y="0"/>
                </a:lnTo>
                <a:lnTo>
                  <a:pt x="798143" y="760412"/>
                </a:lnTo>
                <a:lnTo>
                  <a:pt x="0" y="7604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